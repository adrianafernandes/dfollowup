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2" r:id="rId4"/>
    <p:sldMasterId id="2147483716" r:id="rId5"/>
    <p:sldMasterId id="2147483775" r:id="rId6"/>
  </p:sldMasterIdLst>
  <p:notesMasterIdLst>
    <p:notesMasterId r:id="rId32"/>
  </p:notesMasterIdLst>
  <p:handoutMasterIdLst>
    <p:handoutMasterId r:id="rId33"/>
  </p:handoutMasterIdLst>
  <p:sldIdLst>
    <p:sldId id="2147482967" r:id="rId7"/>
    <p:sldId id="257" r:id="rId8"/>
    <p:sldId id="332" r:id="rId9"/>
    <p:sldId id="304" r:id="rId10"/>
    <p:sldId id="2147482964" r:id="rId11"/>
    <p:sldId id="2147482965" r:id="rId12"/>
    <p:sldId id="260" r:id="rId13"/>
    <p:sldId id="270" r:id="rId14"/>
    <p:sldId id="2147482963" r:id="rId15"/>
    <p:sldId id="384" r:id="rId16"/>
    <p:sldId id="2147482962" r:id="rId17"/>
    <p:sldId id="354" r:id="rId18"/>
    <p:sldId id="344" r:id="rId19"/>
    <p:sldId id="343" r:id="rId20"/>
    <p:sldId id="346" r:id="rId21"/>
    <p:sldId id="347" r:id="rId22"/>
    <p:sldId id="355" r:id="rId23"/>
    <p:sldId id="2147482955" r:id="rId24"/>
    <p:sldId id="2147482957" r:id="rId25"/>
    <p:sldId id="2147482960" r:id="rId26"/>
    <p:sldId id="356" r:id="rId27"/>
    <p:sldId id="2147482952" r:id="rId28"/>
    <p:sldId id="2147482961" r:id="rId29"/>
    <p:sldId id="2147482951" r:id="rId30"/>
    <p:sldId id="292" r:id="rId31"/>
  </p:sldIdLst>
  <p:sldSz cx="12192000" cy="6858000"/>
  <p:notesSz cx="6858000" cy="9144000"/>
  <p:embeddedFontLst>
    <p:embeddedFont>
      <p:font typeface="Arial Black" panose="020B0A04020102020204" pitchFamily="34" charset="0"/>
      <p:bold r:id="rId34"/>
    </p:embeddedFont>
    <p:embeddedFont>
      <p:font typeface="Clario" panose="020B0503030300000000" pitchFamily="34" charset="0"/>
      <p:regular r:id="rId35"/>
      <p:bold r:id="rId36"/>
      <p:italic r:id="rId37"/>
      <p:boldItalic r:id="rId38"/>
    </p:embeddedFont>
    <p:embeddedFont>
      <p:font typeface="Clario Air" panose="020B0203030300000000" pitchFamily="34" charset="0"/>
      <p:regular r:id="rId39"/>
      <p:italic r:id="rId40"/>
    </p:embeddedFont>
    <p:embeddedFont>
      <p:font typeface="Clario Black" panose="020B0A03030300000000" pitchFamily="34" charset="0"/>
      <p:bold r:id="rId41"/>
      <p:italic r:id="rId42"/>
      <p:boldItalic r:id="rId43"/>
    </p:embeddedFont>
    <p:embeddedFont>
      <p:font typeface="Clario Light" panose="020B0403030300000000" pitchFamily="34" charset="0"/>
      <p:regular r:id="rId44"/>
      <p:italic r:id="rId45"/>
    </p:embeddedFont>
    <p:embeddedFont>
      <p:font typeface="Clario Medium" panose="020B0603030300000000" pitchFamily="34" charset="0"/>
      <p:regular r:id="rId46"/>
      <p:italic r:id="rId47"/>
    </p:embeddedFont>
    <p:embeddedFont>
      <p:font typeface="Clario Thin" panose="020B0303030300000000" pitchFamily="34" charset="0"/>
      <p:regular r:id="rId48"/>
      <p: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6EC9B52-7693-49E0-9E40-F6FCEBBD2E43}">
          <p14:sldIdLst>
            <p14:sldId id="2147482967"/>
            <p14:sldId id="257"/>
            <p14:sldId id="332"/>
            <p14:sldId id="304"/>
            <p14:sldId id="2147482964"/>
            <p14:sldId id="2147482965"/>
            <p14:sldId id="260"/>
            <p14:sldId id="270"/>
            <p14:sldId id="2147482963"/>
            <p14:sldId id="384"/>
            <p14:sldId id="2147482962"/>
            <p14:sldId id="354"/>
            <p14:sldId id="344"/>
            <p14:sldId id="343"/>
            <p14:sldId id="346"/>
            <p14:sldId id="347"/>
            <p14:sldId id="355"/>
            <p14:sldId id="2147482955"/>
            <p14:sldId id="2147482957"/>
            <p14:sldId id="2147482960"/>
            <p14:sldId id="356"/>
            <p14:sldId id="2147482952"/>
            <p14:sldId id="2147482961"/>
            <p14:sldId id="214748295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18DD09-A690-89B8-52AF-137690035275}" name="Santos, André (TR Technology)" initials="AS" userId="S::andre.santos@thomsonreuters.com::02a4b2ba-37b7-42c7-a2af-cea826a80cca" providerId="AD"/>
  <p188:author id="{C318AD1F-B6A2-A319-34A7-017F2521C659}" name="Ghellere, Samuel (TR Technology)" initials="GT" userId="S::samuel.ghellere@thomsonreuters.com::e986cb6a-03b2-4c94-b1b5-4be123ec35d4" providerId="AD"/>
  <p188:author id="{8F6D2F33-EFE6-F6B9-7A2B-998BDB40924E}" name="Martinhago, Flaris (TR Technology)" initials="MT" userId="S::flaris.martinhago@thomsonreuters.com::895fa290-3d1f-4f45-9b18-f08552494b58" providerId="AD"/>
  <p188:author id="{8D52B03C-78E3-2C46-565E-9AECA0EA024B}" name="Batisti, Jeferson (TR Technology)" initials="" userId="S::jeferson.batisti@thomsonreuters.com::5b65d4a2-9b35-4f90-ba2c-b0249f95c428" providerId="AD"/>
  <p188:author id="{F4B0EC62-CBD1-6E92-2E78-4735D35D2D04}" name="Bazilio, Gilberto (TR Technology)" initials="GB" userId="S::Gilberto.Bazilio@thomsonreuters.com::976816fd-29ec-4054-a876-15fd0417652b" providerId="AD"/>
  <p188:author id="{3C912381-4AE8-5ADE-AA5B-7D2BA3C30E35}" name="Bianchini, Mateus (TR Technology)" initials="BT" userId="S::mateus.bianchini@thomsonreuters.com::7cccf985-557f-4a08-8780-4c4c565c1fd2" providerId="AD"/>
  <p188:author id="{5A5BBB84-CF46-45A1-3420-197E5D0C0AEC}" name="Dias, Adriano (TR Technology)" initials="AD" userId="S::adriano.dias@thomsonreuters.com::78204c70-0d36-4b1f-8521-58b2ec5e41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EF4444"/>
    <a:srgbClr val="21C25D"/>
    <a:srgbClr val="2D7A4F"/>
    <a:srgbClr val="F5F5F3"/>
    <a:srgbClr val="B45309"/>
    <a:srgbClr val="F8E8E7"/>
    <a:srgbClr val="F0CE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D8CE3-7C95-B418-1D49-159CC043356C}" v="69" dt="2026-04-23T15:36:56.612"/>
    <p1510:client id="{849762A3-9188-98CD-E140-4C51B1148FB1}" v="358" dt="2026-04-23T16:29:20.956"/>
    <p1510:client id="{9860D932-72ED-6DD4-8B98-5475BC405608}" v="3" dt="2026-04-23T17:18:40.900"/>
    <p1510:client id="{A0856758-C1EF-2034-18FB-D70BEDD98437}" v="16" dt="2026-04-23T16:26:18.629"/>
    <p1510:client id="{BD506E76-2AB2-E741-9FA1-DEFAB871C2F1}" v="8" dt="2026-04-23T16:27:00.291"/>
    <p1510:client id="{CBFDF936-2041-2486-0F6D-EC3F79B9F388}" v="57" dt="2026-04-23T14:47:00.599"/>
    <p1510:client id="{DC78CA6F-72B6-A9B0-E110-0172A41215C7}" v="3" dt="2026-04-24T20:15:48.313"/>
    <p1510:client id="{FE00E80B-7F41-45F2-A23E-DF1E15AE4624}" v="557" dt="2026-04-23T16:36:01.320"/>
  </p1510:revLst>
</p1510:revInfo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6.fntdata"/><Relationship Id="rId21" Type="http://schemas.openxmlformats.org/officeDocument/2006/relationships/slide" Target="slides/slide15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2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4.xml"/><Relationship Id="rId41" Type="http://schemas.openxmlformats.org/officeDocument/2006/relationships/font" Target="fonts/font8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63-46A6-B4E1-96B0EA52939D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63-46A6-B4E1-96B0EA52939D}"/>
              </c:ext>
            </c:extLst>
          </c:dPt>
          <c:cat>
            <c:strRef>
              <c:f>Sheet1!$A$2:$A$3</c:f>
              <c:strCache>
                <c:ptCount val="2"/>
                <c:pt idx="0">
                  <c:v>Entregues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63-46A6-B4E1-96B0EA5293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FA-408E-A2D8-569CCF4F28DB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FA-408E-A2D8-569CCF4F28DB}"/>
              </c:ext>
            </c:extLst>
          </c:dPt>
          <c:cat>
            <c:strRef>
              <c:f>Sheet1!$A$2:$A$3</c:f>
              <c:strCache>
                <c:ptCount val="2"/>
                <c:pt idx="0">
                  <c:v>Entregues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FA-408E-A2D8-569CCF4F2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EB3-462A-B41E-BD69D580C1E0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B3-462A-B41E-BD69D580C1E0}"/>
              </c:ext>
            </c:extLst>
          </c:dPt>
          <c:cat>
            <c:strRef>
              <c:f>Sheet1!$A$2:$A$3</c:f>
              <c:strCache>
                <c:ptCount val="2"/>
                <c:pt idx="0">
                  <c:v>Entregues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B3-462A-B41E-BD69D580C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72520-44ED-AF00-91F4-BCD5FCD9B0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8F3FD-942D-DE2A-4EC2-A7C99B5784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18FDC-08D8-451E-948C-290C579D42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D40CF-83B1-975C-874B-7AEC1D8344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23C44-2DD4-0D7D-ACAA-FD8B74206E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CBCF6-95D0-4825-AA21-E48A594626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4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B9401-B6F7-0D40-8CCD-5465CCE2B95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A0B42-299A-9341-97CF-DCDF12CC14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AEFC-9DA3-B31D-72AD-706BBEC4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FC16F-4F54-060A-EF53-4EFB0FD87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C6BA0-669D-C83A-2B5F-3AFB00BBA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5578D-5267-ED7F-A9BD-1CC5D5D76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8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FEB8-98F7-0C4E-D872-EE769963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95D2BF-BF28-8AED-C612-3C34191D5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57A45B-288B-6BED-F89D-17A3A8842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b="1">
                <a:effectLst/>
              </a:rPr>
              <a:t>EFD Contribuições:</a:t>
            </a:r>
            <a:endParaRPr lang="pt-BR"/>
          </a:p>
          <a:p>
            <a:pPr>
              <a:buNone/>
            </a:pPr>
            <a:r>
              <a:rPr lang="pt-BR">
                <a:effectLst/>
              </a:rPr>
              <a:t>DW 5h30min</a:t>
            </a:r>
            <a:endParaRPr lang="pt-BR"/>
          </a:p>
          <a:p>
            <a:r>
              <a:rPr lang="pt-BR" err="1">
                <a:effectLst/>
              </a:rPr>
              <a:t>Tax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One</a:t>
            </a:r>
            <a:r>
              <a:rPr lang="pt-BR">
                <a:effectLst/>
              </a:rPr>
              <a:t> 14 horas  (+ ou -)</a:t>
            </a:r>
            <a:endParaRPr lang="pt-BR"/>
          </a:p>
          <a:p>
            <a:pPr>
              <a:buNone/>
            </a:pPr>
            <a:endParaRPr lang="pt-BR"/>
          </a:p>
          <a:p>
            <a:pPr>
              <a:buNone/>
            </a:pPr>
            <a:r>
              <a:rPr lang="pt-BR"/>
              <a:t>Após upgrade de máquina</a:t>
            </a:r>
          </a:p>
          <a:p>
            <a:pPr>
              <a:buNone/>
            </a:pPr>
            <a:r>
              <a:rPr lang="pt-BR"/>
              <a:t>O processo de </a:t>
            </a:r>
            <a:r>
              <a:rPr lang="pt-BR" err="1"/>
              <a:t>Nov</a:t>
            </a:r>
            <a:r>
              <a:rPr lang="pt-BR"/>
              <a:t>/24 = </a:t>
            </a:r>
            <a:r>
              <a:rPr lang="pt-BR">
                <a:effectLst/>
              </a:rPr>
              <a:t>6:02h de geração</a:t>
            </a:r>
            <a:endParaRPr lang="pt-BR"/>
          </a:p>
          <a:p>
            <a:r>
              <a:rPr lang="pt-BR"/>
              <a:t> </a:t>
            </a:r>
          </a:p>
          <a:p>
            <a:r>
              <a:rPr lang="pt-BR" b="1"/>
              <a:t>ECD</a:t>
            </a:r>
          </a:p>
          <a:p>
            <a:pPr>
              <a:buNone/>
            </a:pPr>
            <a:r>
              <a:rPr lang="pt-BR">
                <a:effectLst/>
              </a:rPr>
              <a:t>DW 5 horas</a:t>
            </a:r>
            <a:endParaRPr lang="pt-BR"/>
          </a:p>
          <a:p>
            <a:r>
              <a:rPr lang="pt-BR" err="1">
                <a:effectLst/>
              </a:rPr>
              <a:t>Tax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One</a:t>
            </a:r>
            <a:r>
              <a:rPr lang="pt-BR">
                <a:effectLst/>
              </a:rPr>
              <a:t> 10 horas (+ ou -)</a:t>
            </a:r>
            <a:endParaRPr lang="pt-BR"/>
          </a:p>
          <a:p>
            <a:endParaRPr lang="pt-BR" b="0"/>
          </a:p>
          <a:p>
            <a:pPr>
              <a:buFont typeface="Arial" panose="020B0604020202020204" pitchFamily="34" charset="0"/>
              <a:buChar char="•"/>
            </a:pPr>
            <a:r>
              <a:rPr lang="pt-BR"/>
              <a:t>1o. teste do cliente: 10h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/>
              <a:t>2o. teste 17h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/>
              <a:t>3o. teste após a melhoria de </a:t>
            </a:r>
            <a:r>
              <a:rPr lang="pt-BR" err="1"/>
              <a:t>Storage</a:t>
            </a:r>
            <a:r>
              <a:rPr lang="pt-BR"/>
              <a:t>: 14h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/>
              <a:t>4o. teste após a alteração no código: 11h (ainda temos oportunidades de melhorias)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EBB93E-3391-9CB6-350F-475F114B6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48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2AC9-32BE-E3E9-8EE7-4F8713B5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62A9E-F325-994D-F4E7-1ACD8E4AA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C1761-E870-154E-42C4-6C307A47D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2D2ED-7AC5-D2BB-F3C0-1364695F3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78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6BDE9-3D87-CCDA-9212-3EBE322D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4E5B2-C890-213A-2976-675C8B456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A29F-5D00-2107-F1CF-C8F79E385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561E0-831F-2AAF-9536-DB3B716CB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49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8C9F-1F9E-1195-7355-23B63697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1474E0-57E9-956D-94D9-AA87BD460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50A331-0349-B5CB-ECEB-BC402C0DD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26B70D-F076-1AC6-B518-604692E8E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94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2D39-5C54-78DD-1CB0-8E220E21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62BA4D-CEBD-7CE2-368F-3E1EB05D3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CB68C0-665D-A8D4-BA61-454C7D9DC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1AADB0-CDCC-245B-2E8A-A20220E68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17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26D3-C89B-2608-35DB-80EEF638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63B5E-4AEC-954D-3CD5-0F746EE87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0A48C-51D2-89F5-1A1C-9501E487F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20551-DB26-AD4F-D0C2-1714B648D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0999-32FA-E8FB-79B9-2CB37E22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CFE7C-BB61-5D76-C0D8-312AB1C5A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08649-4314-C25C-8B9D-E21AC2FA8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75ADB-2A40-C012-9816-83F78B3AF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72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84E4-E377-CA4F-A3CB-0E4FE803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BF94C-54EF-025C-F16C-2DE4E07BE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FC062-7B0E-EA1F-351D-83A579DFE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E9D6-BC4F-1268-6545-744241979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47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A658-8CA5-6D2A-3C20-8B31B59B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E3612-DAD6-446C-B825-8BD52781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918AC-D1B8-662E-4C53-44FBAFF34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262B7-B48C-F525-F0D2-50C50DC70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68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5039-6AB9-3F31-154E-C38C03CC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B1EEFF-50F2-C344-5D54-F699B19B8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2E7560-D333-F44A-249D-AAF5BD81D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9F822C-7FA8-C949-3204-7E271FEEE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9F9C-6066-CA78-DB51-D2FAA306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F06C3B-995D-2484-E8DB-8A9CE7F2B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EF004B-2C3C-7C24-9113-B8AA56A85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9B0EC2-E689-BD68-59C9-2EB74F1B1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36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79F1-69A9-3D61-2F24-66368FA1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131EB8-E4DA-042C-FA71-C9A56FC57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A90E4A-46D5-EDE3-314D-9C26613B3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A0E1DE-AAC4-B317-19D9-29C07AD06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53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B406-979C-7019-71E5-E9898959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09EE63-341C-A25A-6FB4-31C26054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A57477-E521-5A6B-66AD-A9B70E248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68180B-4A00-6829-008F-2CC2C724D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40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5D3E-F2BB-C32A-2CB7-F26B61FF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A8C0F2-ADB3-B722-DA69-68325A875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51A1E3-7E19-B7E2-8B87-34F5320A3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BA572B-D59E-E98D-B882-F23C39D70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06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E955-FC3F-4DF9-B86D-7AB4B9E6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0C0422-6F6C-4863-E4CF-6A4FAD5E3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D50D67-1E98-8930-024C-A02370282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13F153-F292-EFD3-32C6-BB9ADDA6D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3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A0B42-299A-9341-97CF-DCDF12CC14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65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6">
            <a:extLst>
              <a:ext uri="{FF2B5EF4-FFF2-40B4-BE49-F238E27FC236}">
                <a16:creationId xmlns:a16="http://schemas.microsoft.com/office/drawing/2014/main" id="{50568FEB-6B72-0B1C-92F4-5E7DABA34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457199"/>
            <a:ext cx="11277600" cy="5597411"/>
          </a:xfrm>
          <a:custGeom>
            <a:avLst/>
            <a:gdLst>
              <a:gd name="connsiteX0" fmla="*/ 0 w 11734800"/>
              <a:gd name="connsiteY0" fmla="*/ 0 h 5504012"/>
              <a:gd name="connsiteX1" fmla="*/ 11734800 w 11734800"/>
              <a:gd name="connsiteY1" fmla="*/ 0 h 5504012"/>
              <a:gd name="connsiteX2" fmla="*/ 11734800 w 11734800"/>
              <a:gd name="connsiteY2" fmla="*/ 5504012 h 5504012"/>
              <a:gd name="connsiteX3" fmla="*/ 0 w 11734800"/>
              <a:gd name="connsiteY3" fmla="*/ 5504012 h 5504012"/>
              <a:gd name="connsiteX4" fmla="*/ 0 w 11734800"/>
              <a:gd name="connsiteY4" fmla="*/ 0 h 5504012"/>
              <a:gd name="connsiteX0" fmla="*/ 0 w 11734800"/>
              <a:gd name="connsiteY0" fmla="*/ 0 h 5504017"/>
              <a:gd name="connsiteX1" fmla="*/ 11734800 w 11734800"/>
              <a:gd name="connsiteY1" fmla="*/ 0 h 5504017"/>
              <a:gd name="connsiteX2" fmla="*/ 11734800 w 11734800"/>
              <a:gd name="connsiteY2" fmla="*/ 5504012 h 5504017"/>
              <a:gd name="connsiteX3" fmla="*/ 5138057 w 11734800"/>
              <a:gd name="connsiteY3" fmla="*/ 5063141 h 5504017"/>
              <a:gd name="connsiteX4" fmla="*/ 0 w 11734800"/>
              <a:gd name="connsiteY4" fmla="*/ 5504012 h 5504017"/>
              <a:gd name="connsiteX5" fmla="*/ 0 w 11734800"/>
              <a:gd name="connsiteY5" fmla="*/ 0 h 5504017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0 w 11734800"/>
              <a:gd name="connsiteY4" fmla="*/ 5504012 h 5520341"/>
              <a:gd name="connsiteX5" fmla="*/ 0 w 11734800"/>
              <a:gd name="connsiteY5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98812 h 5520341"/>
              <a:gd name="connsiteX5" fmla="*/ 0 w 11734800"/>
              <a:gd name="connsiteY5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98812 h 5520341"/>
              <a:gd name="connsiteX5" fmla="*/ 0 w 11734800"/>
              <a:gd name="connsiteY5" fmla="*/ 1960712 h 5520341"/>
              <a:gd name="connsiteX6" fmla="*/ 0 w 11734800"/>
              <a:gd name="connsiteY6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98812 h 5520341"/>
              <a:gd name="connsiteX5" fmla="*/ 0 w 11734800"/>
              <a:gd name="connsiteY5" fmla="*/ 1960712 h 5520341"/>
              <a:gd name="connsiteX6" fmla="*/ 0 w 11734800"/>
              <a:gd name="connsiteY6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98812 h 5520341"/>
              <a:gd name="connsiteX5" fmla="*/ 0 w 11734800"/>
              <a:gd name="connsiteY5" fmla="*/ 1960712 h 5520341"/>
              <a:gd name="connsiteX6" fmla="*/ 0 w 11734800"/>
              <a:gd name="connsiteY6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55269 h 5520341"/>
              <a:gd name="connsiteX5" fmla="*/ 0 w 11734800"/>
              <a:gd name="connsiteY5" fmla="*/ 1960712 h 5520341"/>
              <a:gd name="connsiteX6" fmla="*/ 0 w 11734800"/>
              <a:gd name="connsiteY6" fmla="*/ 0 h 5520341"/>
              <a:gd name="connsiteX0" fmla="*/ 0 w 11734800"/>
              <a:gd name="connsiteY0" fmla="*/ 0 h 5520341"/>
              <a:gd name="connsiteX1" fmla="*/ 11734800 w 11734800"/>
              <a:gd name="connsiteY1" fmla="*/ 0 h 5520341"/>
              <a:gd name="connsiteX2" fmla="*/ 11734800 w 11734800"/>
              <a:gd name="connsiteY2" fmla="*/ 5504012 h 5520341"/>
              <a:gd name="connsiteX3" fmla="*/ 5094515 w 11734800"/>
              <a:gd name="connsiteY3" fmla="*/ 5520341 h 5520341"/>
              <a:gd name="connsiteX4" fmla="*/ 5083629 w 11734800"/>
              <a:gd name="connsiteY4" fmla="*/ 1955269 h 5520341"/>
              <a:gd name="connsiteX5" fmla="*/ 0 w 11734800"/>
              <a:gd name="connsiteY5" fmla="*/ 1960712 h 5520341"/>
              <a:gd name="connsiteX6" fmla="*/ 0 w 11734800"/>
              <a:gd name="connsiteY6" fmla="*/ 0 h 5520341"/>
              <a:gd name="connsiteX0" fmla="*/ 0 w 11734800"/>
              <a:gd name="connsiteY0" fmla="*/ 0 h 6176388"/>
              <a:gd name="connsiteX1" fmla="*/ 11734800 w 11734800"/>
              <a:gd name="connsiteY1" fmla="*/ 0 h 6176388"/>
              <a:gd name="connsiteX2" fmla="*/ 11734800 w 11734800"/>
              <a:gd name="connsiteY2" fmla="*/ 6176355 h 6176388"/>
              <a:gd name="connsiteX3" fmla="*/ 5094515 w 11734800"/>
              <a:gd name="connsiteY3" fmla="*/ 5520341 h 6176388"/>
              <a:gd name="connsiteX4" fmla="*/ 5083629 w 11734800"/>
              <a:gd name="connsiteY4" fmla="*/ 1955269 h 6176388"/>
              <a:gd name="connsiteX5" fmla="*/ 0 w 11734800"/>
              <a:gd name="connsiteY5" fmla="*/ 1960712 h 6176388"/>
              <a:gd name="connsiteX6" fmla="*/ 0 w 11734800"/>
              <a:gd name="connsiteY6" fmla="*/ 0 h 6176388"/>
              <a:gd name="connsiteX0" fmla="*/ 0 w 11734800"/>
              <a:gd name="connsiteY0" fmla="*/ 0 h 5807299"/>
              <a:gd name="connsiteX1" fmla="*/ 11734800 w 11734800"/>
              <a:gd name="connsiteY1" fmla="*/ 0 h 5807299"/>
              <a:gd name="connsiteX2" fmla="*/ 11721585 w 11734800"/>
              <a:gd name="connsiteY2" fmla="*/ 5807226 h 5807299"/>
              <a:gd name="connsiteX3" fmla="*/ 5094515 w 11734800"/>
              <a:gd name="connsiteY3" fmla="*/ 5520341 h 5807299"/>
              <a:gd name="connsiteX4" fmla="*/ 5083629 w 11734800"/>
              <a:gd name="connsiteY4" fmla="*/ 1955269 h 5807299"/>
              <a:gd name="connsiteX5" fmla="*/ 0 w 11734800"/>
              <a:gd name="connsiteY5" fmla="*/ 1960712 h 5807299"/>
              <a:gd name="connsiteX6" fmla="*/ 0 w 11734800"/>
              <a:gd name="connsiteY6" fmla="*/ 0 h 5807299"/>
              <a:gd name="connsiteX0" fmla="*/ 0 w 11734800"/>
              <a:gd name="connsiteY0" fmla="*/ 0 h 5810372"/>
              <a:gd name="connsiteX1" fmla="*/ 11734800 w 11734800"/>
              <a:gd name="connsiteY1" fmla="*/ 0 h 5810372"/>
              <a:gd name="connsiteX2" fmla="*/ 11721585 w 11734800"/>
              <a:gd name="connsiteY2" fmla="*/ 5807226 h 5810372"/>
              <a:gd name="connsiteX3" fmla="*/ 5081301 w 11734800"/>
              <a:gd name="connsiteY3" fmla="*/ 5810372 h 5810372"/>
              <a:gd name="connsiteX4" fmla="*/ 5083629 w 11734800"/>
              <a:gd name="connsiteY4" fmla="*/ 1955269 h 5810372"/>
              <a:gd name="connsiteX5" fmla="*/ 0 w 11734800"/>
              <a:gd name="connsiteY5" fmla="*/ 1960712 h 5810372"/>
              <a:gd name="connsiteX6" fmla="*/ 0 w 11734800"/>
              <a:gd name="connsiteY6" fmla="*/ 0 h 581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34800" h="5810372">
                <a:moveTo>
                  <a:pt x="0" y="0"/>
                </a:moveTo>
                <a:lnTo>
                  <a:pt x="11734800" y="0"/>
                </a:lnTo>
                <a:lnTo>
                  <a:pt x="11721585" y="5807226"/>
                </a:lnTo>
                <a:lnTo>
                  <a:pt x="5081301" y="5810372"/>
                </a:lnTo>
                <a:cubicBezTo>
                  <a:pt x="5077672" y="4636529"/>
                  <a:pt x="5087258" y="3129112"/>
                  <a:pt x="5083629" y="1955269"/>
                </a:cubicBezTo>
                <a:cubicBezTo>
                  <a:pt x="5145315" y="1967969"/>
                  <a:pt x="3629" y="1969784"/>
                  <a:pt x="0" y="1960712"/>
                </a:cubicBezTo>
                <a:lnTo>
                  <a:pt x="0" y="0"/>
                </a:lnTo>
                <a:close/>
              </a:path>
            </a:pathLst>
          </a:custGeom>
          <a:solidFill>
            <a:srgbClr val="F8EADD"/>
          </a:solidFill>
        </p:spPr>
        <p:txBody>
          <a:bodyPr/>
          <a:lstStyle>
            <a:lvl1pPr marL="0" indent="0">
              <a:buNone/>
              <a:defRPr sz="1600" b="0" i="0">
                <a:latin typeface="+mn-lt"/>
              </a:defRPr>
            </a:lvl1pPr>
          </a:lstStyle>
          <a:p>
            <a:r>
              <a:rPr lang="en-US"/>
              <a:t>Double click or select the thumbnail to insert your own photo.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8D925D5-CE17-6841-F185-3B2B0B30D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05900" y="149966"/>
            <a:ext cx="2628900" cy="228600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r">
              <a:lnSpc>
                <a:spcPct val="100000"/>
              </a:lnSpc>
              <a:buNone/>
              <a:defRPr sz="600" b="0" i="0">
                <a:solidFill>
                  <a:schemeClr val="tx1"/>
                </a:solidFill>
                <a:latin typeface="+mn-lt"/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11618875-1668-11B3-F3B3-162878A9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2455542"/>
            <a:ext cx="4622800" cy="233602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pt-BR" noProof="0"/>
              <a:t>Clique para editar o título Mestre</a:t>
            </a:r>
            <a:endParaRPr lang="en-US" noProof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0B6FCC5-BE63-289E-6D73-9806A4225E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0700" y="4935858"/>
            <a:ext cx="4521199" cy="508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buNone/>
              <a:defRPr sz="1400" b="0" i="0"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200"/>
            </a:lvl3pPr>
            <a:lvl4pPr marL="1371600" indent="0">
              <a:lnSpc>
                <a:spcPct val="120000"/>
              </a:lnSpc>
              <a:buNone/>
              <a:defRPr sz="1200"/>
            </a:lvl4pPr>
            <a:lvl5pPr marL="1828800" indent="0">
              <a:lnSpc>
                <a:spcPct val="120000"/>
              </a:lnSpc>
              <a:buNone/>
              <a:defRPr sz="1200"/>
            </a:lvl5pPr>
          </a:lstStyle>
          <a:p>
            <a:pPr lvl="0"/>
            <a:r>
              <a:rPr lang="en-US" noProof="0"/>
              <a:t>Insert short description here.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5F950B-A4A4-FEF4-41B6-3E5771814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0700" y="5627939"/>
            <a:ext cx="1090715" cy="0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1B79519-36BC-721E-29C3-6B896B5E20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358" y="5794375"/>
            <a:ext cx="3030537" cy="3406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3628202-1AB6-EFE4-8AED-BBCA894A8E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5358" y="6191323"/>
            <a:ext cx="3030537" cy="3406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b="0" i="0">
                <a:latin typeface="+mn-lt"/>
              </a:defRPr>
            </a:lvl1pPr>
          </a:lstStyle>
          <a:p>
            <a:pPr lvl="0"/>
            <a:r>
              <a:rPr lang="en-US"/>
              <a:t>Confidentiality Status (if needed)</a:t>
            </a:r>
          </a:p>
        </p:txBody>
      </p:sp>
      <p:pic>
        <p:nvPicPr>
          <p:cNvPr id="16" name="Thomson Reuters Logo">
            <a:extLst>
              <a:ext uri="{FF2B5EF4-FFF2-40B4-BE49-F238E27FC236}">
                <a16:creationId xmlns:a16="http://schemas.microsoft.com/office/drawing/2014/main" id="{F7308CD9-B98A-C44D-E18C-99A34DCEF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275" y="6211517"/>
            <a:ext cx="1279525" cy="4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4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ver_l.way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5105779-27CA-DDD0-7CCC-04E129676E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02676" y="457200"/>
            <a:ext cx="3030537" cy="340611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800" b="0" i="0">
                <a:latin typeface="+mn-lt"/>
              </a:defRPr>
            </a:lvl1pPr>
          </a:lstStyle>
          <a:p>
            <a:pPr lvl="0"/>
            <a:r>
              <a:rPr lang="en-US"/>
              <a:t>Confidentiality Status (if needed)</a:t>
            </a:r>
          </a:p>
        </p:txBody>
      </p:sp>
      <p:cxnSp>
        <p:nvCxnSpPr>
          <p:cNvPr id="3" name="Linear Waypoint">
            <a:extLst>
              <a:ext uri="{FF2B5EF4-FFF2-40B4-BE49-F238E27FC236}">
                <a16:creationId xmlns:a16="http://schemas.microsoft.com/office/drawing/2014/main" id="{B4D6A1E1-1968-A0A7-3CB2-F69E71F7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48000" y="973424"/>
            <a:ext cx="9144000" cy="0"/>
          </a:xfrm>
          <a:prstGeom prst="straightConnector1">
            <a:avLst/>
          </a:prstGeom>
          <a:ln w="63500">
            <a:solidFill>
              <a:schemeClr val="accent1"/>
            </a:solidFill>
            <a:headEnd type="oval" w="lg" len="lg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ar Waypoint 2">
            <a:extLst>
              <a:ext uri="{FF2B5EF4-FFF2-40B4-BE49-F238E27FC236}">
                <a16:creationId xmlns:a16="http://schemas.microsoft.com/office/drawing/2014/main" id="{06E60783-3AAC-25F3-D887-D0EF16DBB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431004"/>
            <a:ext cx="9840686" cy="0"/>
          </a:xfrm>
          <a:prstGeom prst="straightConnector1">
            <a:avLst/>
          </a:prstGeom>
          <a:ln w="63500">
            <a:solidFill>
              <a:schemeClr val="tx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7">
            <a:extLst>
              <a:ext uri="{FF2B5EF4-FFF2-40B4-BE49-F238E27FC236}">
                <a16:creationId xmlns:a16="http://schemas.microsoft.com/office/drawing/2014/main" id="{BBFBA7DF-2DE5-B069-088A-5E368A84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475" y="2986915"/>
            <a:ext cx="9305925" cy="72019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5200">
                <a:solidFill>
                  <a:schemeClr val="accent2"/>
                </a:solidFill>
              </a:defRPr>
            </a:lvl1pPr>
          </a:lstStyle>
          <a:p>
            <a:r>
              <a:rPr lang="pt-BR" noProof="0"/>
              <a:t>Clique para editar o título Mestre</a:t>
            </a:r>
            <a:endParaRPr lang="en-US" noProof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F446EF7-3351-5D45-7281-D424A0F1CF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4475" y="3835593"/>
            <a:ext cx="5680723" cy="508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buNone/>
              <a:defRPr sz="1800" b="0" i="0"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200"/>
            </a:lvl3pPr>
            <a:lvl4pPr marL="1371600" indent="0">
              <a:lnSpc>
                <a:spcPct val="120000"/>
              </a:lnSpc>
              <a:buNone/>
              <a:defRPr sz="1200"/>
            </a:lvl4pPr>
            <a:lvl5pPr marL="1828800" indent="0">
              <a:lnSpc>
                <a:spcPct val="120000"/>
              </a:lnSpc>
              <a:buNone/>
              <a:defRPr sz="1200"/>
            </a:lvl5pPr>
          </a:lstStyle>
          <a:p>
            <a:pPr lvl="0"/>
            <a:r>
              <a:rPr lang="en-US" noProof="0"/>
              <a:t>Insert short description here.</a:t>
            </a:r>
          </a:p>
        </p:txBody>
      </p:sp>
      <p:cxnSp>
        <p:nvCxnSpPr>
          <p:cNvPr id="16" name="Linear Waypoint 3">
            <a:extLst>
              <a:ext uri="{FF2B5EF4-FFF2-40B4-BE49-F238E27FC236}">
                <a16:creationId xmlns:a16="http://schemas.microsoft.com/office/drawing/2014/main" id="{84A77AD4-B3FE-A5A8-EDD9-CFB7B7302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888584"/>
            <a:ext cx="2177143" cy="0"/>
          </a:xfrm>
          <a:prstGeom prst="straightConnector1">
            <a:avLst/>
          </a:prstGeom>
          <a:ln w="63500">
            <a:solidFill>
              <a:schemeClr val="tx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inear Waypoint 4">
            <a:extLst>
              <a:ext uri="{FF2B5EF4-FFF2-40B4-BE49-F238E27FC236}">
                <a16:creationId xmlns:a16="http://schemas.microsoft.com/office/drawing/2014/main" id="{B6B23F72-1F7A-E2F1-D94D-CDDB6EF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346165"/>
            <a:ext cx="7837714" cy="0"/>
          </a:xfrm>
          <a:prstGeom prst="straightConnector1">
            <a:avLst/>
          </a:prstGeom>
          <a:ln w="63500">
            <a:solidFill>
              <a:schemeClr val="tx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D70722-07B5-8F11-D065-962F3AF2DB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0031" y="5618179"/>
            <a:ext cx="3030537" cy="3406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pic>
        <p:nvPicPr>
          <p:cNvPr id="13" name="Thomson Reuters Logo">
            <a:extLst>
              <a:ext uri="{FF2B5EF4-FFF2-40B4-BE49-F238E27FC236}">
                <a16:creationId xmlns:a16="http://schemas.microsoft.com/office/drawing/2014/main" id="{758A87BD-822D-6E45-904B-8A3CEE276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275" y="6188978"/>
            <a:ext cx="1277938" cy="42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5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divider_gold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89AA5E3-5FAF-513D-8379-0A29838E6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FBD9A105-7E89-EF99-7FD7-066974BABD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400" y="2210205"/>
            <a:ext cx="477520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pic>
        <p:nvPicPr>
          <p:cNvPr id="4" name="Thomson Reuters Logo">
            <a:extLst>
              <a:ext uri="{FF2B5EF4-FFF2-40B4-BE49-F238E27FC236}">
                <a16:creationId xmlns:a16="http://schemas.microsoft.com/office/drawing/2014/main" id="{488CDC94-A620-4A7D-34EF-B277AE2E0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6239" y="6181229"/>
            <a:ext cx="1277938" cy="42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0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divider_amb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7">
            <a:extLst>
              <a:ext uri="{FF2B5EF4-FFF2-40B4-BE49-F238E27FC236}">
                <a16:creationId xmlns:a16="http://schemas.microsoft.com/office/drawing/2014/main" id="{FBD9A105-7E89-EF99-7FD7-066974BAB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0537" y="3154234"/>
            <a:ext cx="4884737" cy="252992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pic>
        <p:nvPicPr>
          <p:cNvPr id="13" name="Thomson Reuters Logo">
            <a:extLst>
              <a:ext uri="{FF2B5EF4-FFF2-40B4-BE49-F238E27FC236}">
                <a16:creationId xmlns:a16="http://schemas.microsoft.com/office/drawing/2014/main" id="{758A87BD-822D-6E45-904B-8A3CEE276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275" y="6188978"/>
            <a:ext cx="1277938" cy="4236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9F54250-5A5B-CF9E-3AB5-26C83E702A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7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divider_teal">
    <p:bg>
      <p:bgPr>
        <a:solidFill>
          <a:srgbClr val="E3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homson Reuter Logo">
            <a:extLst>
              <a:ext uri="{FF2B5EF4-FFF2-40B4-BE49-F238E27FC236}">
                <a16:creationId xmlns:a16="http://schemas.microsoft.com/office/drawing/2014/main" id="{758A87BD-822D-6E45-904B-8A3CEE276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45378"/>
            <a:ext cx="1277938" cy="423644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FBD9A105-7E89-EF99-7FD7-066974BAB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238" y="3556000"/>
            <a:ext cx="4884737" cy="252992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CF6D9F-3EDD-38D5-6A7A-C37BD2CCD7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75" y="-7750"/>
            <a:ext cx="12205776" cy="686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0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divider_sky">
    <p:bg>
      <p:bgPr>
        <a:solidFill>
          <a:srgbClr val="E3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FBD9A105-7E89-EF99-7FD7-066974BAB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3631" y="2413000"/>
            <a:ext cx="4884737" cy="252992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pic>
        <p:nvPicPr>
          <p:cNvPr id="13" name="Thomson Reuters Logo">
            <a:extLst>
              <a:ext uri="{FF2B5EF4-FFF2-40B4-BE49-F238E27FC236}">
                <a16:creationId xmlns:a16="http://schemas.microsoft.com/office/drawing/2014/main" id="{758A87BD-822D-6E45-904B-8A3CEE276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2408" y="6204476"/>
            <a:ext cx="1277938" cy="4236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B62666-2D71-9945-E5C0-385E415D14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divider_lime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homson Reuters Logo">
            <a:extLst>
              <a:ext uri="{FF2B5EF4-FFF2-40B4-BE49-F238E27FC236}">
                <a16:creationId xmlns:a16="http://schemas.microsoft.com/office/drawing/2014/main" id="{758A87BD-822D-6E45-904B-8A3CEE276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275" y="245378"/>
            <a:ext cx="1277938" cy="423644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FBD9A105-7E89-EF99-7FD7-066974BAB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872" y="3097899"/>
            <a:ext cx="4884737" cy="252992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164F06E-5941-2B06-63ED-FAE7BFE714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2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_blank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31F771-A560-5A40-B026-B1166D29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457204"/>
            <a:ext cx="5740400" cy="592346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 anchor="b" anchorCtr="0">
            <a:noAutofit/>
          </a:bodyPr>
          <a:lstStyle>
            <a:lvl1pPr marL="0" indent="0" algn="r">
              <a:buNone/>
              <a:defRPr sz="1400" b="0" i="0">
                <a:latin typeface="+mn-lt"/>
              </a:defRPr>
            </a:lvl1pPr>
          </a:lstStyle>
          <a:p>
            <a:r>
              <a:rPr lang="en-US" noProof="0"/>
              <a:t>Double click or select the thumbnail to insert your own photo.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B4AB2BE-4AF7-1449-6428-21085411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91022"/>
            <a:ext cx="2628900" cy="163003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l">
              <a:lnSpc>
                <a:spcPct val="100000"/>
              </a:lnSpc>
              <a:buNone/>
              <a:defRPr sz="600" b="0" i="0">
                <a:solidFill>
                  <a:schemeClr val="tx1"/>
                </a:solidFill>
                <a:latin typeface="+mn-lt"/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852BB1-76FE-E59D-4D6F-317F211EC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19875" y="5600700"/>
            <a:ext cx="1090715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7">
            <a:extLst>
              <a:ext uri="{FF2B5EF4-FFF2-40B4-BE49-F238E27FC236}">
                <a16:creationId xmlns:a16="http://schemas.microsoft.com/office/drawing/2014/main" id="{A564D725-4DF9-B26E-2C58-1BF473269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9875" y="2821268"/>
            <a:ext cx="4884737" cy="252992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93371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divider_blank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5349DA-0412-19F0-1603-527B4569A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3006"/>
            <a:ext cx="12192000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Thomson Reuters Logo">
            <a:extLst>
              <a:ext uri="{FF2B5EF4-FFF2-40B4-BE49-F238E27FC236}">
                <a16:creationId xmlns:a16="http://schemas.microsoft.com/office/drawing/2014/main" id="{5AB0340C-0AF0-971C-2F1C-26046A8FE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901" y="245114"/>
            <a:ext cx="1279525" cy="424171"/>
          </a:xfrm>
          <a:prstGeom prst="rect">
            <a:avLst/>
          </a:prstGeom>
        </p:spPr>
      </p:pic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31F771-A560-5A40-B026-B1166D29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94400" y="457204"/>
            <a:ext cx="5740400" cy="592346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 anchor="b" anchorCtr="0">
            <a:noAutofit/>
          </a:bodyPr>
          <a:lstStyle>
            <a:lvl1pPr marL="0" indent="0" algn="r">
              <a:buNone/>
              <a:defRPr sz="1400" b="0" i="0">
                <a:latin typeface="+mn-lt"/>
              </a:defRPr>
            </a:lvl1pPr>
          </a:lstStyle>
          <a:p>
            <a:r>
              <a:rPr lang="en-US" noProof="0"/>
              <a:t>Double click or select the thumbnail to insert your own photo.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B4AB2BE-4AF7-1449-6428-21085411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05900" y="291022"/>
            <a:ext cx="2628900" cy="163003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r">
              <a:lnSpc>
                <a:spcPct val="100000"/>
              </a:lnSpc>
              <a:buNone/>
              <a:defRPr sz="600" b="0" i="0">
                <a:solidFill>
                  <a:schemeClr val="tx1"/>
                </a:solidFill>
                <a:latin typeface="+mn-lt"/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A564D725-4DF9-B26E-2C58-1BF473269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411" y="2842177"/>
            <a:ext cx="4884737" cy="252992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852BB1-76FE-E59D-4D6F-317F211EC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1411" y="5592491"/>
            <a:ext cx="1090715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49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mall headline_1c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E62384-77E5-FEB8-4B00-DA357C59A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6"/>
            <a:ext cx="5683250" cy="2308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52E71D7-7312-F122-1E61-F6DF6645E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222CD00-11CD-CE54-8EC4-E2304D6574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1485900"/>
            <a:ext cx="11277600" cy="45120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latin typeface="+mn-lt"/>
              </a:defRPr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rge headline_1c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E62384-77E5-FEB8-4B00-DA357C59A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6"/>
            <a:ext cx="5683250" cy="2308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DA1A8D-89FB-CB99-BE8C-738A378F8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869" y="685518"/>
            <a:ext cx="11150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4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CE7358-C1FF-DDD9-7B96-9AE0BEEA35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869" y="1474627"/>
            <a:ext cx="11196637" cy="436562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222CD00-11CD-CE54-8EC4-E2304D6574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2146300"/>
            <a:ext cx="11285106" cy="38516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latin typeface="+mn-lt"/>
              </a:defRPr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small headline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77DCFE1C-C61B-CF92-BC2E-26D0106B1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49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small headline_eyebrow_gold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3B6977B8-2B69-5E63-F6D7-A3FDE5D31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4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small headline_eyebrow_amber"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3DE0DCA-7BD9-688F-9C6D-782884498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86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small headline_eyebrow_sky">
    <p:bg>
      <p:bgPr>
        <a:solidFill>
          <a:srgbClr val="E3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26A92643-129E-BACE-43AA-3583195CB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55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small headline_eyebrow_teal">
    <p:bg>
      <p:bgPr>
        <a:solidFill>
          <a:srgbClr val="E3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E5641B2E-6C12-F9DA-1E28-837017088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76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small headline_eyebrow_lime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732A82A7-7ADC-EB29-7D38-DF702FA61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4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1191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2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972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_blank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31F771-A560-5A40-B026-B1166D29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457204"/>
            <a:ext cx="5740400" cy="592346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 anchor="b" anchorCtr="0">
            <a:noAutofit/>
          </a:bodyPr>
          <a:lstStyle>
            <a:lvl1pPr marL="0" indent="0" algn="r">
              <a:buNone/>
              <a:defRPr sz="1400" b="0" i="0">
                <a:latin typeface="+mn-lt"/>
              </a:defRPr>
            </a:lvl1pPr>
          </a:lstStyle>
          <a:p>
            <a:r>
              <a:rPr lang="en-US" noProof="0"/>
              <a:t>Double click or select the thumbnail to insert your own photo.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B4AB2BE-4AF7-1449-6428-21085411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91022"/>
            <a:ext cx="2628900" cy="163003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l">
              <a:lnSpc>
                <a:spcPct val="100000"/>
              </a:lnSpc>
              <a:buNone/>
              <a:defRPr sz="600" b="0" i="0">
                <a:solidFill>
                  <a:schemeClr val="tx1"/>
                </a:solidFill>
                <a:latin typeface="+mn-lt"/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A564D725-4DF9-B26E-2C58-1BF473269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9875" y="2821268"/>
            <a:ext cx="4884737" cy="252992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852BB1-76FE-E59D-4D6F-317F211EC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19875" y="5600700"/>
            <a:ext cx="1090715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2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divider_blank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B0340C-0AF0-971C-2F1C-26046A8FE0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901" y="245114"/>
            <a:ext cx="1279525" cy="424171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A564D725-4DF9-B26E-2C58-1BF473269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411" y="2842177"/>
            <a:ext cx="4884737" cy="252992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880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Section divider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852BB1-76FE-E59D-4D6F-317F211EC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1411" y="5592491"/>
            <a:ext cx="1090715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31F771-A560-5A40-B026-B1166D29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94400" y="457204"/>
            <a:ext cx="5740400" cy="592346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 anchor="b" anchorCtr="0">
            <a:noAutofit/>
          </a:bodyPr>
          <a:lstStyle>
            <a:lvl1pPr marL="0" indent="0" algn="r">
              <a:buNone/>
              <a:defRPr sz="1400" b="0" i="0">
                <a:latin typeface="+mn-lt"/>
              </a:defRPr>
            </a:lvl1pPr>
          </a:lstStyle>
          <a:p>
            <a:r>
              <a:rPr lang="en-US" noProof="0"/>
              <a:t>Double click or select the thumbnail to insert your own photo.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B4AB2BE-4AF7-1449-6428-21085411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05900" y="291022"/>
            <a:ext cx="2628900" cy="163003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r">
              <a:lnSpc>
                <a:spcPct val="100000"/>
              </a:lnSpc>
              <a:buNone/>
              <a:defRPr sz="600" b="0" i="0">
                <a:solidFill>
                  <a:schemeClr val="tx1"/>
                </a:solidFill>
                <a:latin typeface="+mn-lt"/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6FD67E-E91F-607C-5155-95813D21BD02}"/>
              </a:ext>
            </a:extLst>
          </p:cNvPr>
          <p:cNvGrpSpPr/>
          <p:nvPr userDrawn="1"/>
        </p:nvGrpSpPr>
        <p:grpSpPr>
          <a:xfrm>
            <a:off x="0" y="6820206"/>
            <a:ext cx="12192000" cy="0"/>
            <a:chOff x="0" y="6820206"/>
            <a:chExt cx="12192000" cy="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EE7FE4A-9B27-53AA-7B31-C90D350FD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820206"/>
              <a:ext cx="9969500" cy="0"/>
            </a:xfrm>
            <a:prstGeom prst="line">
              <a:avLst/>
            </a:prstGeom>
            <a:ln w="635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E852C1-9E9C-989B-49B9-AA3821F87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69500" y="6820206"/>
              <a:ext cx="2222500" cy="0"/>
            </a:xfrm>
            <a:prstGeom prst="line">
              <a:avLst/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8142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mall headline_1c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E62384-77E5-FEB8-4B00-DA357C59A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6"/>
            <a:ext cx="5683250" cy="2308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52E71D7-7312-F122-1E61-F6DF6645E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222CD00-11CD-CE54-8EC4-E2304D6574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1485900"/>
            <a:ext cx="11277600" cy="45120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latin typeface="+mn-lt"/>
              </a:defRPr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760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rge headline_1c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E62384-77E5-FEB8-4B00-DA357C59A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6"/>
            <a:ext cx="5683250" cy="2308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DA1A8D-89FB-CB99-BE8C-738A378F8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869" y="685518"/>
            <a:ext cx="11150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4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CE7358-C1FF-DDD9-7B96-9AE0BEEA35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869" y="1474627"/>
            <a:ext cx="11196637" cy="436562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222CD00-11CD-CE54-8EC4-E2304D6574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2146300"/>
            <a:ext cx="11285106" cy="38516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latin typeface="+mn-lt"/>
              </a:defRPr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222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bold_statement_gold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EDF3E6D7-2CD9-EBEA-C4ED-3263E2E0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ctr">
              <a:defRPr sz="6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37FA34D-0648-3E84-2329-D10B7850D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i="0" cap="all" spc="300" baseline="0">
                <a:latin typeface="+mn-lt"/>
              </a:defRPr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4B9A-4C4F-C17C-96AB-D8C26E00B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62FB2-5772-BB33-66A1-1B096AEB9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70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bold_statement_amber"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EDF3E6D7-2CD9-EBEA-C4ED-3263E2E0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ctr">
              <a:defRPr sz="6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37FA34D-0648-3E84-2329-D10B7850D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i="0" cap="all" spc="300" baseline="0">
                <a:latin typeface="+mn-lt"/>
              </a:defRPr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4B9A-4C4F-C17C-96AB-D8C26E00B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62FB2-5772-BB33-66A1-1B096AEB9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09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bold_statement_sky">
    <p:bg>
      <p:bgPr>
        <a:solidFill>
          <a:srgbClr val="E3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EDF3E6D7-2CD9-EBEA-C4ED-3263E2E0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ctr">
              <a:defRPr sz="6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37FA34D-0648-3E84-2329-D10B7850D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i="0" cap="all" spc="300" baseline="0">
                <a:latin typeface="+mn-lt"/>
              </a:defRPr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4B9A-4C4F-C17C-96AB-D8C26E00B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62FB2-5772-BB33-66A1-1B096AEB9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8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bold_statement_teal">
    <p:bg>
      <p:bgPr>
        <a:solidFill>
          <a:srgbClr val="E3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EDF3E6D7-2CD9-EBEA-C4ED-3263E2E0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ctr">
              <a:defRPr sz="6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37FA34D-0648-3E84-2329-D10B7850D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i="0" cap="all" spc="300" baseline="0">
                <a:latin typeface="+mn-lt"/>
              </a:defRPr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4B9A-4C4F-C17C-96AB-D8C26E00B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62FB2-5772-BB33-66A1-1B096AEB9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135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bold_statement_lime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EDF3E6D7-2CD9-EBEA-C4ED-3263E2E0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ctr">
              <a:defRPr sz="60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37FA34D-0648-3E84-2329-D10B7850D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i="0" cap="all" spc="300" baseline="0">
                <a:latin typeface="+mn-lt"/>
              </a:defRPr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4B9A-4C4F-C17C-96AB-D8C26E00B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62FB2-5772-BB33-66A1-1B096AEB9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803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small headline_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77DCFE1C-C61B-CF92-BC2E-26D0106B1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95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small headline_eyebrow_gold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B6977B8-2B69-5E63-F6D7-A3FDE5D31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583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small headline_eyebrow_amber"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3DE0DCA-7BD9-688F-9C6D-782884498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469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small headline_eyebrow_sky">
    <p:bg>
      <p:bgPr>
        <a:solidFill>
          <a:srgbClr val="E3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26A92643-129E-BACE-43AA-3583195CB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835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small headline_eyebrow_teal">
    <p:bg>
      <p:bgPr>
        <a:solidFill>
          <a:srgbClr val="E3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E5641B2E-6C12-F9DA-1E28-837017088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647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small headline_eyebrow_lime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BCCBC2-1A04-AA1D-D78F-0651C797C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0615"/>
            <a:ext cx="3848100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 u="none" cap="all" spc="300" baseline="0">
                <a:uFill>
                  <a:solidFill>
                    <a:schemeClr val="tx2"/>
                  </a:solidFill>
                </a:uFill>
                <a:latin typeface="+mn-lt"/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732A82A7-7ADC-EB29-7D38-DF702FA61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771055"/>
            <a:ext cx="112776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spc="0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4CC-8FE9-9F9A-3FFA-A19F8BE8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1007-C7DF-DBCC-AC0D-86B4CDBFA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5675" y="6400803"/>
            <a:ext cx="3108325" cy="2487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733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D921-1141-7EBD-CF78-3EABA815C3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63397-1C6F-9A42-A515-9253095B9F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6C347-21F7-16EF-54B5-437B9D8466E3}"/>
              </a:ext>
            </a:extLst>
          </p:cNvPr>
          <p:cNvSpPr txBox="1"/>
          <p:nvPr userDrawn="1"/>
        </p:nvSpPr>
        <p:spPr>
          <a:xfrm>
            <a:off x="358342" y="197708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err="1">
                <a:latin typeface="Clario Air" panose="020B0203030300000000" pitchFamily="34" charset="0"/>
              </a:rPr>
              <a:t>Clario</a:t>
            </a:r>
            <a:r>
              <a:rPr lang="en-US" sz="1000" b="0" i="0">
                <a:latin typeface="Clario Air" panose="020B0203030300000000" pitchFamily="34" charset="0"/>
              </a:rPr>
              <a:t> Air</a:t>
            </a:r>
          </a:p>
          <a:p>
            <a:r>
              <a:rPr lang="en-US" sz="1000" b="0" i="0">
                <a:effectLst/>
                <a:latin typeface="Clario Air" panose="020B0203030300000000" pitchFamily="34" charset="0"/>
              </a:rPr>
              <a:t>ABCDEFGHIJKLMNOPQRSTUVWXYZ </a:t>
            </a:r>
          </a:p>
          <a:p>
            <a:r>
              <a:rPr lang="en-US" sz="1000" b="0" i="0" err="1">
                <a:effectLst/>
                <a:latin typeface="Clario Air" panose="020B0203030300000000" pitchFamily="34" charset="0"/>
              </a:rPr>
              <a:t>abcdefghijklmnopqrstuvwxyz</a:t>
            </a:r>
            <a:r>
              <a:rPr lang="en-US" sz="1000" b="0" i="0">
                <a:effectLst/>
                <a:latin typeface="Clario Air" panose="020B0203030300000000" pitchFamily="34" charset="0"/>
              </a:rPr>
              <a:t>  </a:t>
            </a:r>
          </a:p>
          <a:p>
            <a:r>
              <a:rPr lang="en-US" sz="1000" b="0" i="0">
                <a:effectLst/>
                <a:latin typeface="Clario Air" panose="020B0203030300000000" pitchFamily="34" charset="0"/>
              </a:rPr>
              <a:t>1234567890!@#$”%^&amp;*,;/{}[]()?!</a:t>
            </a:r>
            <a:endParaRPr lang="en-US" sz="1000" b="0" i="0">
              <a:latin typeface="Clario Air" panose="020B02030303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0A6F5-B221-F9BF-D48C-8D5D63E47DF0}"/>
              </a:ext>
            </a:extLst>
          </p:cNvPr>
          <p:cNvSpPr txBox="1"/>
          <p:nvPr userDrawn="1"/>
        </p:nvSpPr>
        <p:spPr>
          <a:xfrm>
            <a:off x="358342" y="1031499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err="1">
                <a:latin typeface="Clario Thin" panose="020B0303030300000000" pitchFamily="34" charset="0"/>
              </a:rPr>
              <a:t>Clario</a:t>
            </a:r>
            <a:r>
              <a:rPr lang="en-US" sz="1000" b="0" i="0">
                <a:latin typeface="Clario Thin" panose="020B0303030300000000" pitchFamily="34" charset="0"/>
              </a:rPr>
              <a:t> Thin</a:t>
            </a:r>
          </a:p>
          <a:p>
            <a:r>
              <a:rPr lang="en-US" sz="1000" b="0" i="0">
                <a:effectLst/>
                <a:latin typeface="Clario Thin" panose="020B0303030300000000" pitchFamily="34" charset="0"/>
              </a:rPr>
              <a:t>ABCDEFGHIJKLMNOPQRSTUVWXYZ </a:t>
            </a:r>
          </a:p>
          <a:p>
            <a:r>
              <a:rPr lang="en-US" sz="1000" b="0" i="0" err="1">
                <a:effectLst/>
                <a:latin typeface="Clario Thin" panose="020B0303030300000000" pitchFamily="34" charset="0"/>
              </a:rPr>
              <a:t>abcdefghijklmnopqrstuvwxyz</a:t>
            </a:r>
            <a:r>
              <a:rPr lang="en-US" sz="1000" b="0" i="0">
                <a:effectLst/>
                <a:latin typeface="Clario Thin" panose="020B0303030300000000" pitchFamily="34" charset="0"/>
              </a:rPr>
              <a:t>  </a:t>
            </a:r>
          </a:p>
          <a:p>
            <a:r>
              <a:rPr lang="en-US" sz="1000" b="0" i="0">
                <a:effectLst/>
                <a:latin typeface="Clario Thin" panose="020B0303030300000000" pitchFamily="34" charset="0"/>
              </a:rPr>
              <a:t>1234567890!@#$”%^&amp;*,;/{}[]()?!</a:t>
            </a:r>
            <a:endParaRPr lang="en-US" sz="1000" b="0" i="0">
              <a:latin typeface="Clario Thin" panose="020B0303030300000000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CC2C1-8A06-20A1-9667-5B9652212B24}"/>
              </a:ext>
            </a:extLst>
          </p:cNvPr>
          <p:cNvSpPr txBox="1"/>
          <p:nvPr userDrawn="1"/>
        </p:nvSpPr>
        <p:spPr>
          <a:xfrm>
            <a:off x="358342" y="1865290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err="1">
                <a:latin typeface="Clario Light" panose="020B0403030300000000" pitchFamily="34" charset="0"/>
              </a:rPr>
              <a:t>Clario</a:t>
            </a:r>
            <a:r>
              <a:rPr lang="en-US" sz="1000" b="0" i="0">
                <a:latin typeface="Clario Light" panose="020B0403030300000000" pitchFamily="34" charset="0"/>
              </a:rPr>
              <a:t> Light</a:t>
            </a:r>
          </a:p>
          <a:p>
            <a:r>
              <a:rPr lang="en-US" sz="1000" b="0" i="0">
                <a:effectLst/>
                <a:latin typeface="Clario Light" panose="020B0403030300000000" pitchFamily="34" charset="0"/>
              </a:rPr>
              <a:t>ABCDEFGHIJKLMNOPQRSTUVWXYZ </a:t>
            </a:r>
          </a:p>
          <a:p>
            <a:r>
              <a:rPr lang="en-US" sz="1000" b="0" i="0" err="1">
                <a:effectLst/>
                <a:latin typeface="Clario Light" panose="020B0403030300000000" pitchFamily="34" charset="0"/>
              </a:rPr>
              <a:t>abcdefghijklmnopqrstuvwxyz</a:t>
            </a:r>
            <a:r>
              <a:rPr lang="en-US" sz="1000" b="0" i="0">
                <a:effectLst/>
                <a:latin typeface="Clario Light" panose="020B0403030300000000" pitchFamily="34" charset="0"/>
              </a:rPr>
              <a:t>  </a:t>
            </a:r>
          </a:p>
          <a:p>
            <a:r>
              <a:rPr lang="en-US" sz="1000" b="0" i="0">
                <a:effectLst/>
                <a:latin typeface="Clario Light" panose="020B0403030300000000" pitchFamily="34" charset="0"/>
              </a:rPr>
              <a:t>1234567890!@#$”%^&amp;*,;/{}[]()?!</a:t>
            </a:r>
            <a:endParaRPr lang="en-US" sz="1000" b="0" i="0">
              <a:latin typeface="Clario Light" panose="020B0403030300000000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7BBA5-ADC0-62D3-A017-CEA6E859BADF}"/>
              </a:ext>
            </a:extLst>
          </p:cNvPr>
          <p:cNvSpPr txBox="1"/>
          <p:nvPr userDrawn="1"/>
        </p:nvSpPr>
        <p:spPr>
          <a:xfrm>
            <a:off x="358342" y="2699081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/>
              <a:t>Clario</a:t>
            </a:r>
            <a:r>
              <a:rPr lang="en-US" sz="1000"/>
              <a:t> Regular</a:t>
            </a:r>
          </a:p>
          <a:p>
            <a:r>
              <a:rPr lang="en-US" sz="1000">
                <a:effectLst/>
              </a:rPr>
              <a:t>ABCDEFGHIJKLMNOPQRSTUVWXYZ </a:t>
            </a:r>
          </a:p>
          <a:p>
            <a:r>
              <a:rPr lang="en-US" sz="1000" err="1">
                <a:effectLst/>
              </a:rPr>
              <a:t>abcdefghijklmnopqrstuvwxyz</a:t>
            </a:r>
            <a:r>
              <a:rPr lang="en-US" sz="1000">
                <a:effectLst/>
              </a:rPr>
              <a:t>  </a:t>
            </a:r>
          </a:p>
          <a:p>
            <a:r>
              <a:rPr lang="en-US" sz="1000">
                <a:effectLst/>
              </a:rPr>
              <a:t>1234567890!@#$”%^&amp;*,;/{}[]()?!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4150F-918C-0671-B7F8-8164135D0202}"/>
              </a:ext>
            </a:extLst>
          </p:cNvPr>
          <p:cNvSpPr txBox="1"/>
          <p:nvPr userDrawn="1"/>
        </p:nvSpPr>
        <p:spPr>
          <a:xfrm>
            <a:off x="358342" y="3532872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latin typeface="+mj-lt"/>
              </a:rPr>
              <a:t>Clario</a:t>
            </a:r>
            <a:r>
              <a:rPr lang="en-US" sz="1000">
                <a:latin typeface="+mj-lt"/>
              </a:rPr>
              <a:t> Medium</a:t>
            </a:r>
          </a:p>
          <a:p>
            <a:r>
              <a:rPr lang="en-US" sz="1000">
                <a:effectLst/>
                <a:latin typeface="+mj-lt"/>
              </a:rPr>
              <a:t>ABCDEFGHIJKLMNOPQRSTUVWXYZ </a:t>
            </a:r>
          </a:p>
          <a:p>
            <a:r>
              <a:rPr lang="en-US" sz="1000" err="1">
                <a:effectLst/>
                <a:latin typeface="+mj-lt"/>
              </a:rPr>
              <a:t>abcdefghijklmnopqrstuvwxyz</a:t>
            </a:r>
            <a:r>
              <a:rPr lang="en-US" sz="1000">
                <a:effectLst/>
                <a:latin typeface="+mj-lt"/>
              </a:rPr>
              <a:t>  </a:t>
            </a:r>
          </a:p>
          <a:p>
            <a:r>
              <a:rPr lang="en-US" sz="1000">
                <a:effectLst/>
                <a:latin typeface="+mj-lt"/>
              </a:rPr>
              <a:t>1234567890!@#$”%^&amp;*,;/{}[]()?!</a:t>
            </a:r>
            <a:endParaRPr lang="en-US" sz="100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A8D6C-3131-53A4-116D-25F3CF615E17}"/>
              </a:ext>
            </a:extLst>
          </p:cNvPr>
          <p:cNvSpPr txBox="1"/>
          <p:nvPr userDrawn="1"/>
        </p:nvSpPr>
        <p:spPr>
          <a:xfrm>
            <a:off x="358342" y="4366663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err="1">
                <a:latin typeface="Clario" panose="020B0503030300000000" pitchFamily="34" charset="0"/>
              </a:rPr>
              <a:t>Clario</a:t>
            </a:r>
            <a:r>
              <a:rPr lang="en-US" sz="1000" b="1" i="0">
                <a:latin typeface="Clario" panose="020B0503030300000000" pitchFamily="34" charset="0"/>
              </a:rPr>
              <a:t> Bold</a:t>
            </a:r>
          </a:p>
          <a:p>
            <a:r>
              <a:rPr lang="en-US" sz="1000" b="1" i="0">
                <a:effectLst/>
                <a:latin typeface="Clario" panose="020B0503030300000000" pitchFamily="34" charset="0"/>
              </a:rPr>
              <a:t>ABCDEFGHIJKLMNOPQRSTUVWXYZ </a:t>
            </a:r>
          </a:p>
          <a:p>
            <a:r>
              <a:rPr lang="en-US" sz="1000" b="1" i="0" err="1">
                <a:effectLst/>
                <a:latin typeface="Clario" panose="020B0503030300000000" pitchFamily="34" charset="0"/>
              </a:rPr>
              <a:t>abcdefghijklmnopqrstuvwxyz</a:t>
            </a:r>
            <a:r>
              <a:rPr lang="en-US" sz="1000" b="1" i="0">
                <a:effectLst/>
                <a:latin typeface="Clario" panose="020B0503030300000000" pitchFamily="34" charset="0"/>
              </a:rPr>
              <a:t>  </a:t>
            </a:r>
          </a:p>
          <a:p>
            <a:r>
              <a:rPr lang="en-US" sz="1000" b="1" i="0">
                <a:effectLst/>
                <a:latin typeface="Clario" panose="020B0503030300000000" pitchFamily="34" charset="0"/>
              </a:rPr>
              <a:t>1234567890!@#$”%^&amp;*,;/{}[]()?!</a:t>
            </a:r>
            <a:endParaRPr lang="en-US" sz="1000" b="1" i="0">
              <a:latin typeface="Clario" panose="020B0503030300000000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68B36-39E0-D545-6AE4-7A1EFA832A60}"/>
              </a:ext>
            </a:extLst>
          </p:cNvPr>
          <p:cNvSpPr txBox="1"/>
          <p:nvPr userDrawn="1"/>
        </p:nvSpPr>
        <p:spPr>
          <a:xfrm>
            <a:off x="358342" y="5200452"/>
            <a:ext cx="28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err="1">
                <a:latin typeface="Clario Black" panose="020B0503030300000000" pitchFamily="34" charset="0"/>
              </a:rPr>
              <a:t>Clario</a:t>
            </a:r>
            <a:r>
              <a:rPr lang="en-US" sz="1000" b="1" i="0">
                <a:latin typeface="Clario Black" panose="020B0503030300000000" pitchFamily="34" charset="0"/>
              </a:rPr>
              <a:t> Black</a:t>
            </a:r>
          </a:p>
          <a:p>
            <a:r>
              <a:rPr lang="en-US" sz="1000" b="1" i="0">
                <a:effectLst/>
                <a:latin typeface="Clario Black" panose="020B0503030300000000" pitchFamily="34" charset="0"/>
              </a:rPr>
              <a:t>ABCDEFGHIJKLMNOPQRSTUVWXYZ </a:t>
            </a:r>
          </a:p>
          <a:p>
            <a:r>
              <a:rPr lang="en-US" sz="1000" b="1" i="0" err="1">
                <a:effectLst/>
                <a:latin typeface="Clario Black" panose="020B0503030300000000" pitchFamily="34" charset="0"/>
              </a:rPr>
              <a:t>abcdefghijklmnopqrstuvwxyz</a:t>
            </a:r>
            <a:r>
              <a:rPr lang="en-US" sz="1000" b="1" i="0">
                <a:effectLst/>
                <a:latin typeface="Clario Black" panose="020B0503030300000000" pitchFamily="34" charset="0"/>
              </a:rPr>
              <a:t>  </a:t>
            </a:r>
          </a:p>
          <a:p>
            <a:r>
              <a:rPr lang="en-US" sz="1000" b="1" i="0">
                <a:effectLst/>
                <a:latin typeface="Clario Black" panose="020B0503030300000000" pitchFamily="34" charset="0"/>
              </a:rPr>
              <a:t>1234567890!@#$”%^&amp;*,;/{}[]()?!</a:t>
            </a:r>
            <a:endParaRPr lang="en-US" sz="1000" b="1" i="0">
              <a:latin typeface="Clario Black" panose="020B0503030300000000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25361-4FFF-C6BD-E421-AB1A72D1ACAB}"/>
              </a:ext>
            </a:extLst>
          </p:cNvPr>
          <p:cNvSpPr txBox="1"/>
          <p:nvPr userDrawn="1"/>
        </p:nvSpPr>
        <p:spPr>
          <a:xfrm>
            <a:off x="2824200" y="197708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1" err="1">
                <a:latin typeface="Clario Air" panose="020B0203030300000000" pitchFamily="34" charset="0"/>
              </a:rPr>
              <a:t>Clario</a:t>
            </a:r>
            <a:r>
              <a:rPr lang="en-US" sz="1000" b="0" i="1">
                <a:latin typeface="Clario Air" panose="020B0203030300000000" pitchFamily="34" charset="0"/>
              </a:rPr>
              <a:t> Air Italic</a:t>
            </a:r>
          </a:p>
          <a:p>
            <a:r>
              <a:rPr lang="en-US" sz="1000" b="0" i="1">
                <a:effectLst/>
                <a:latin typeface="Clario Air" panose="020B0203030300000000" pitchFamily="34" charset="0"/>
              </a:rPr>
              <a:t>ABCDEFGHIJKLMNOPQRSTUVWXYZ </a:t>
            </a:r>
          </a:p>
          <a:p>
            <a:r>
              <a:rPr lang="en-US" sz="1000" b="0" i="1" err="1">
                <a:effectLst/>
                <a:latin typeface="Clario Air" panose="020B0203030300000000" pitchFamily="34" charset="0"/>
              </a:rPr>
              <a:t>abcdefghijklmnopqrstuvwxyz</a:t>
            </a:r>
            <a:r>
              <a:rPr lang="en-US" sz="1000" b="0" i="1">
                <a:effectLst/>
                <a:latin typeface="Clario Air" panose="020B0203030300000000" pitchFamily="34" charset="0"/>
              </a:rPr>
              <a:t>  </a:t>
            </a:r>
          </a:p>
          <a:p>
            <a:r>
              <a:rPr lang="en-US" sz="1000" b="0" i="1">
                <a:effectLst/>
                <a:latin typeface="Clario Air" panose="020B0203030300000000" pitchFamily="34" charset="0"/>
              </a:rPr>
              <a:t>1234567890!@#$”%^&amp;*,;/{}[]()?!</a:t>
            </a:r>
            <a:endParaRPr lang="en-US" sz="1000" b="0" i="1">
              <a:latin typeface="Clario Air" panose="020B0203030300000000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8A665-07E0-26A7-AEF8-66E7B9570460}"/>
              </a:ext>
            </a:extLst>
          </p:cNvPr>
          <p:cNvSpPr txBox="1"/>
          <p:nvPr userDrawn="1"/>
        </p:nvSpPr>
        <p:spPr>
          <a:xfrm>
            <a:off x="2824204" y="1031497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1" err="1">
                <a:latin typeface="Clario Thin" panose="020B0303030300000000" pitchFamily="34" charset="0"/>
              </a:rPr>
              <a:t>Clario</a:t>
            </a:r>
            <a:r>
              <a:rPr lang="en-US" sz="1000" b="0" i="1">
                <a:latin typeface="Clario Thin" panose="020B0303030300000000" pitchFamily="34" charset="0"/>
              </a:rPr>
              <a:t> Thin Italic</a:t>
            </a:r>
          </a:p>
          <a:p>
            <a:r>
              <a:rPr lang="en-US" sz="1000" b="0" i="1">
                <a:effectLst/>
                <a:latin typeface="Clario Thin" panose="020B0303030300000000" pitchFamily="34" charset="0"/>
              </a:rPr>
              <a:t>ABCDEFGHIJKLMNOPQRSTUVWXYZ </a:t>
            </a:r>
          </a:p>
          <a:p>
            <a:r>
              <a:rPr lang="en-US" sz="1000" b="0" i="1" err="1">
                <a:effectLst/>
                <a:latin typeface="Clario Thin" panose="020B0303030300000000" pitchFamily="34" charset="0"/>
              </a:rPr>
              <a:t>abcdefghijklmnopqrstuvwxyz</a:t>
            </a:r>
            <a:r>
              <a:rPr lang="en-US" sz="1000" b="0" i="1">
                <a:effectLst/>
                <a:latin typeface="Clario Thin" panose="020B0303030300000000" pitchFamily="34" charset="0"/>
              </a:rPr>
              <a:t>  </a:t>
            </a:r>
          </a:p>
          <a:p>
            <a:r>
              <a:rPr lang="en-US" sz="1000" b="0" i="1">
                <a:effectLst/>
                <a:latin typeface="Clario Thin" panose="020B0303030300000000" pitchFamily="34" charset="0"/>
              </a:rPr>
              <a:t>1234567890!@#$”%^&amp;*,;/{}[]()?!</a:t>
            </a:r>
            <a:endParaRPr lang="en-US" sz="1000" b="0" i="1">
              <a:latin typeface="Clario Thin" panose="020B0303030300000000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84E222-FD06-4A05-0D3D-1EC003732C72}"/>
              </a:ext>
            </a:extLst>
          </p:cNvPr>
          <p:cNvSpPr txBox="1"/>
          <p:nvPr userDrawn="1"/>
        </p:nvSpPr>
        <p:spPr>
          <a:xfrm>
            <a:off x="2824204" y="1865290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1" err="1">
                <a:latin typeface="Clario Light" panose="020B0403030300000000" pitchFamily="34" charset="0"/>
              </a:rPr>
              <a:t>Clario</a:t>
            </a:r>
            <a:r>
              <a:rPr lang="en-US" sz="1000" b="0" i="1">
                <a:latin typeface="Clario Light" panose="020B0403030300000000" pitchFamily="34" charset="0"/>
              </a:rPr>
              <a:t> Light Italic</a:t>
            </a:r>
          </a:p>
          <a:p>
            <a:r>
              <a:rPr lang="en-US" sz="1000" b="0" i="1">
                <a:effectLst/>
                <a:latin typeface="Clario Light" panose="020B0403030300000000" pitchFamily="34" charset="0"/>
              </a:rPr>
              <a:t>ABCDEFGHIJKLMNOPQRSTUVWXYZ </a:t>
            </a:r>
            <a:br>
              <a:rPr lang="en-US" sz="1000" b="0" i="1">
                <a:effectLst/>
                <a:latin typeface="Clario Light" panose="020B0403030300000000" pitchFamily="34" charset="0"/>
              </a:rPr>
            </a:br>
            <a:r>
              <a:rPr lang="en-US" sz="1000" b="0" i="1" err="1">
                <a:effectLst/>
                <a:latin typeface="Clario Light" panose="020B0403030300000000" pitchFamily="34" charset="0"/>
              </a:rPr>
              <a:t>abcdefghijklmnopqrstuvwxyz</a:t>
            </a:r>
            <a:r>
              <a:rPr lang="en-US" sz="1000" b="0" i="1">
                <a:effectLst/>
                <a:latin typeface="Clario Light" panose="020B0403030300000000" pitchFamily="34" charset="0"/>
              </a:rPr>
              <a:t>  </a:t>
            </a:r>
          </a:p>
          <a:p>
            <a:r>
              <a:rPr lang="en-US" sz="1000" b="0" i="1">
                <a:effectLst/>
                <a:latin typeface="Clario Light" panose="020B0403030300000000" pitchFamily="34" charset="0"/>
              </a:rPr>
              <a:t>1234567890!@#$”%^&amp;*,;/{}[]()?!</a:t>
            </a:r>
            <a:endParaRPr lang="en-US" sz="1000" b="0" i="1">
              <a:latin typeface="Clario Light" panose="020B0403030300000000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E1725-E8E7-4D56-1076-1C3EF760787D}"/>
              </a:ext>
            </a:extLst>
          </p:cNvPr>
          <p:cNvSpPr txBox="1"/>
          <p:nvPr userDrawn="1"/>
        </p:nvSpPr>
        <p:spPr>
          <a:xfrm>
            <a:off x="2824203" y="2699081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1" err="1">
                <a:latin typeface="Clario" panose="020B0503030300000000" pitchFamily="34" charset="0"/>
              </a:rPr>
              <a:t>Clario</a:t>
            </a:r>
            <a:r>
              <a:rPr lang="en-US" sz="1000" b="0" i="1">
                <a:latin typeface="Clario" panose="020B0503030300000000" pitchFamily="34" charset="0"/>
              </a:rPr>
              <a:t> Regular Italic</a:t>
            </a:r>
          </a:p>
          <a:p>
            <a:r>
              <a:rPr lang="en-US" sz="1000" b="0" i="1">
                <a:effectLst/>
                <a:latin typeface="Clario" panose="020B0503030300000000" pitchFamily="34" charset="0"/>
              </a:rPr>
              <a:t>ABCDEFGHIJKLMNOPQRSTUVWXYZ </a:t>
            </a:r>
          </a:p>
          <a:p>
            <a:r>
              <a:rPr lang="en-US" sz="1000" b="0" i="1" err="1">
                <a:effectLst/>
                <a:latin typeface="Clario" panose="020B0503030300000000" pitchFamily="34" charset="0"/>
              </a:rPr>
              <a:t>abcdefghijklmnopqrstuvwxyz</a:t>
            </a:r>
            <a:r>
              <a:rPr lang="en-US" sz="1000" b="0" i="1">
                <a:effectLst/>
                <a:latin typeface="Clario" panose="020B0503030300000000" pitchFamily="34" charset="0"/>
              </a:rPr>
              <a:t>  </a:t>
            </a:r>
          </a:p>
          <a:p>
            <a:r>
              <a:rPr lang="en-US" sz="1000" b="0" i="1">
                <a:effectLst/>
                <a:latin typeface="Clario" panose="020B0503030300000000" pitchFamily="34" charset="0"/>
              </a:rPr>
              <a:t>1234567890!@#$”%^&amp;*,;/{}[]()?!</a:t>
            </a:r>
            <a:endParaRPr lang="en-US" sz="1000" b="0" i="1">
              <a:latin typeface="Clario" panose="020B050303030000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09A70D-A7C4-42DF-B6C2-58D75B081A01}"/>
              </a:ext>
            </a:extLst>
          </p:cNvPr>
          <p:cNvSpPr txBox="1"/>
          <p:nvPr userDrawn="1"/>
        </p:nvSpPr>
        <p:spPr>
          <a:xfrm>
            <a:off x="2824202" y="3532872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1" err="1">
                <a:latin typeface="Clario Medium" panose="020B0503030300000000" pitchFamily="34" charset="0"/>
              </a:rPr>
              <a:t>Clario</a:t>
            </a:r>
            <a:r>
              <a:rPr lang="en-US" sz="1000" b="0" i="1">
                <a:latin typeface="Clario Medium" panose="020B0503030300000000" pitchFamily="34" charset="0"/>
              </a:rPr>
              <a:t> Medium Italic</a:t>
            </a:r>
          </a:p>
          <a:p>
            <a:r>
              <a:rPr lang="en-US" sz="1000" b="0" i="1">
                <a:effectLst/>
                <a:latin typeface="Clario Medium" panose="020B0503030300000000" pitchFamily="34" charset="0"/>
              </a:rPr>
              <a:t>ABCDEFGHIJKLMNOPQRSTUVWXYZ </a:t>
            </a:r>
          </a:p>
          <a:p>
            <a:r>
              <a:rPr lang="en-US" sz="1000" b="0" i="1" err="1">
                <a:effectLst/>
                <a:latin typeface="Clario Medium" panose="020B0503030300000000" pitchFamily="34" charset="0"/>
              </a:rPr>
              <a:t>abcdefghijklmnopqrstuvwxyz</a:t>
            </a:r>
            <a:r>
              <a:rPr lang="en-US" sz="1000" b="0" i="1">
                <a:effectLst/>
                <a:latin typeface="Clario Medium" panose="020B0503030300000000" pitchFamily="34" charset="0"/>
              </a:rPr>
              <a:t>  </a:t>
            </a:r>
          </a:p>
          <a:p>
            <a:r>
              <a:rPr lang="en-US" sz="1000" b="0" i="1">
                <a:effectLst/>
                <a:latin typeface="Clario Medium" panose="020B0503030300000000" pitchFamily="34" charset="0"/>
              </a:rPr>
              <a:t>1234567890!@#$”%^&amp;*,;/{}[]()?!</a:t>
            </a:r>
            <a:endParaRPr lang="en-US" sz="1000" b="0" i="1">
              <a:latin typeface="Clario Medium" panose="020B0503030300000000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F913B3-CB24-1A15-7B78-8D2911777E32}"/>
              </a:ext>
            </a:extLst>
          </p:cNvPr>
          <p:cNvSpPr txBox="1"/>
          <p:nvPr userDrawn="1"/>
        </p:nvSpPr>
        <p:spPr>
          <a:xfrm>
            <a:off x="2824201" y="4366663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err="1">
                <a:latin typeface="Clario" panose="020B0503030300000000" pitchFamily="34" charset="0"/>
              </a:rPr>
              <a:t>Clario</a:t>
            </a:r>
            <a:r>
              <a:rPr lang="en-US" sz="1000" b="1" i="1">
                <a:latin typeface="Clario" panose="020B0503030300000000" pitchFamily="34" charset="0"/>
              </a:rPr>
              <a:t> Bold Italic</a:t>
            </a:r>
          </a:p>
          <a:p>
            <a:r>
              <a:rPr lang="en-US" sz="1000" b="1" i="1">
                <a:effectLst/>
                <a:latin typeface="Clario" panose="020B0503030300000000" pitchFamily="34" charset="0"/>
              </a:rPr>
              <a:t>ABCDEFGHIJKLMNOPQRSTUVWXYZ </a:t>
            </a:r>
          </a:p>
          <a:p>
            <a:r>
              <a:rPr lang="en-US" sz="1000" b="1" i="1" err="1">
                <a:effectLst/>
                <a:latin typeface="Clario" panose="020B0503030300000000" pitchFamily="34" charset="0"/>
              </a:rPr>
              <a:t>abcdefghijklmnopqrstuvwxyz</a:t>
            </a:r>
            <a:r>
              <a:rPr lang="en-US" sz="1000" b="1" i="1">
                <a:effectLst/>
                <a:latin typeface="Clario" panose="020B0503030300000000" pitchFamily="34" charset="0"/>
              </a:rPr>
              <a:t>  </a:t>
            </a:r>
          </a:p>
          <a:p>
            <a:r>
              <a:rPr lang="en-US" sz="1000" b="1" i="1">
                <a:effectLst/>
                <a:latin typeface="Clario" panose="020B0503030300000000" pitchFamily="34" charset="0"/>
              </a:rPr>
              <a:t>1234567890!@#$”%^&amp;*,;/{}[]()?!</a:t>
            </a:r>
            <a:endParaRPr lang="en-US" sz="1000" b="1" i="1">
              <a:latin typeface="Clario" panose="020B0503030300000000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DED76-F667-0BC5-23BF-5FEF96B032B6}"/>
              </a:ext>
            </a:extLst>
          </p:cNvPr>
          <p:cNvSpPr txBox="1"/>
          <p:nvPr userDrawn="1"/>
        </p:nvSpPr>
        <p:spPr>
          <a:xfrm>
            <a:off x="2824200" y="5200452"/>
            <a:ext cx="247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err="1">
                <a:latin typeface="Clario Black" panose="020B0503030300000000" pitchFamily="34" charset="0"/>
              </a:rPr>
              <a:t>Clario</a:t>
            </a:r>
            <a:r>
              <a:rPr lang="en-US" sz="1000" b="1" i="1">
                <a:latin typeface="Clario Black" panose="020B0503030300000000" pitchFamily="34" charset="0"/>
              </a:rPr>
              <a:t> Black Italic</a:t>
            </a:r>
          </a:p>
          <a:p>
            <a:r>
              <a:rPr lang="en-US" sz="1000" b="1" i="1">
                <a:effectLst/>
                <a:latin typeface="Clario Black" panose="020B0503030300000000" pitchFamily="34" charset="0"/>
              </a:rPr>
              <a:t>ABCDEFGHIJKLMNOPQRSTUVWXYZ </a:t>
            </a:r>
          </a:p>
          <a:p>
            <a:r>
              <a:rPr lang="en-US" sz="1000" b="1" i="1" err="1">
                <a:effectLst/>
                <a:latin typeface="Clario Black" panose="020B0503030300000000" pitchFamily="34" charset="0"/>
              </a:rPr>
              <a:t>abcdefghijklmnopqrstuvwxyz</a:t>
            </a:r>
            <a:r>
              <a:rPr lang="en-US" sz="1000" b="1" i="1">
                <a:effectLst/>
                <a:latin typeface="Clario Black" panose="020B0503030300000000" pitchFamily="34" charset="0"/>
              </a:rPr>
              <a:t>  </a:t>
            </a:r>
          </a:p>
          <a:p>
            <a:r>
              <a:rPr lang="en-US" sz="1000" b="1" i="1">
                <a:effectLst/>
                <a:latin typeface="Clario Black" panose="020B0503030300000000" pitchFamily="34" charset="0"/>
              </a:rPr>
              <a:t>1234567890!@#$”%^&amp;*,;/{}[]()?!</a:t>
            </a:r>
            <a:endParaRPr lang="en-US" sz="1000" b="1" i="1">
              <a:latin typeface="Clario Black" panose="020B05030303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446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60749876-1BDD-2C0D-382F-7EA552A5C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1" y="1516768"/>
            <a:ext cx="3229178" cy="498598"/>
          </a:xfrm>
        </p:spPr>
        <p:txBody>
          <a:bodyPr wrap="square">
            <a:spAutoFit/>
          </a:bodyPr>
          <a:lstStyle>
            <a:lvl1pPr>
              <a:defRPr sz="3600" spc="0" baseline="0"/>
            </a:lvl1pPr>
          </a:lstStyle>
          <a:p>
            <a:r>
              <a:rPr lang="en-US" noProof="0"/>
              <a:t>Contents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EB2054FE-B230-81F9-F57D-ED02801852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0700" y="2250000"/>
            <a:ext cx="3229177" cy="358324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Insert opening paragraph here.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D88496-D36A-17C7-BA60-463D07CB2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95750" y="1449450"/>
            <a:ext cx="0" cy="4297009"/>
          </a:xfrm>
          <a:prstGeom prst="line">
            <a:avLst/>
          </a:prstGeom>
          <a:ln w="12700">
            <a:solidFill>
              <a:srgbClr val="FA6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BCDD0E-B215-6141-23C0-E1E19504BEB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89165" y="1462814"/>
            <a:ext cx="6897143" cy="435015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169863">
              <a:lnSpc>
                <a:spcPct val="9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tabLst/>
              <a:defRPr/>
            </a:lvl1pPr>
            <a:lvl2pPr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1500"/>
              </a:spcAft>
              <a:defRPr/>
            </a:lvl3pPr>
          </a:lstStyle>
          <a:p>
            <a:pPr lvl="0"/>
            <a:r>
              <a:rPr lang="en-US"/>
              <a:t>Agenda item here</a:t>
            </a:r>
          </a:p>
          <a:p>
            <a:pPr lvl="0"/>
            <a:r>
              <a:rPr lang="en-US"/>
              <a:t>Agenda item here</a:t>
            </a:r>
          </a:p>
          <a:p>
            <a:pPr lvl="1"/>
            <a:r>
              <a:rPr lang="en-US"/>
              <a:t>Agenda item here</a:t>
            </a:r>
          </a:p>
          <a:p>
            <a:pPr lvl="2"/>
            <a:r>
              <a:rPr lang="en-US"/>
              <a:t>Agenda item here</a:t>
            </a:r>
          </a:p>
          <a:p>
            <a:pPr lvl="0"/>
            <a:r>
              <a:rPr lang="en-US"/>
              <a:t>Agenda item here</a:t>
            </a:r>
          </a:p>
          <a:p>
            <a:pPr lvl="0"/>
            <a:r>
              <a:rPr lang="en-US"/>
              <a:t>Agenda item here</a:t>
            </a:r>
          </a:p>
          <a:p>
            <a:pPr lvl="0"/>
            <a:r>
              <a:rPr lang="en-US"/>
              <a:t>Agenda item here</a:t>
            </a:r>
          </a:p>
          <a:p>
            <a:pPr lvl="0"/>
            <a:r>
              <a:rPr lang="en-US"/>
              <a:t>Agenda item here</a:t>
            </a:r>
          </a:p>
          <a:p>
            <a:pPr lvl="0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C6BF5C1C-12BA-961B-DB35-CFFCD7B2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54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6F3D2973-DD27-052F-80C9-9A8A183A7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53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4680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660003B-2ACD-DA13-4CF6-858DA9414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778EB1CF-88DB-4856-F6D2-7E4570ED3B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0692536C-9F43-18B9-C25E-BEEAB8F557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763" y="1601350"/>
            <a:ext cx="3254887" cy="451206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</a:lstStyle>
          <a:p>
            <a:pPr lvl="0"/>
            <a:r>
              <a:rPr lang="en-US" noProof="0"/>
              <a:t>Intro paragraph style – use this for your opening statement.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0A04CA9-D2AA-CAA0-2EED-0090B3E825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08475" y="1634836"/>
            <a:ext cx="3575050" cy="445184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D690AA22-4DA7-6363-2298-E1E7DA4986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6250" y="1657525"/>
            <a:ext cx="3575050" cy="445184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268CC96-AED9-1AFF-E318-8CE93DB0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CA8E623D-5C3B-A0C9-E540-74120F60E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333527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3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5DEE3F1F-0454-E468-3AC2-FD60B0C6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8DB84A4-89BA-913B-29CE-8F038A518E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763" y="1601350"/>
            <a:ext cx="3254887" cy="451206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</a:lstStyle>
          <a:p>
            <a:pPr lvl="0"/>
            <a:r>
              <a:rPr lang="en-US" noProof="0"/>
              <a:t>Intro paragraph style – use this for your opening statement.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97BD7BA-DDBF-5DEE-A049-A0B1FA23C5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08475" y="1634836"/>
            <a:ext cx="3575050" cy="445184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09841C6-93BF-0A5B-2C6E-1A5A331C3F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6250" y="1657525"/>
            <a:ext cx="3575050" cy="445184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268CC96-AED9-1AFF-E318-8CE93DB0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CA8E623D-5C3B-A0C9-E540-74120F60E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937435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FC46A50-5062-8276-D522-02B7FC074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2BAC23A-7310-0258-089C-34E4A4B88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32233E-05C5-74EC-11FF-65A828093B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414463"/>
            <a:ext cx="11147742" cy="44973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3470A25-276A-A6E2-B598-6C2A99BF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183A3A6-C8E5-9580-34D2-56E027113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215206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1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22BAC23A-7310-0258-089C-34E4A4B88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32233E-05C5-74EC-11FF-65A828093B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414463"/>
            <a:ext cx="11147742" cy="44973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3470A25-276A-A6E2-B598-6C2A99BF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183A3A6-C8E5-9580-34D2-56E027113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90966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AAF553E-73D8-14A5-3948-C678B8EAB3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B1D5B1BA-2A54-A4B4-8D95-D23FC7346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57AC1A1-BDA5-FC8A-9342-EF8139D8D0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0750" y="1497600"/>
            <a:ext cx="5467350" cy="46771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6532F31-FAD4-A8E0-F264-EE40673AEB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5150" y="1497600"/>
            <a:ext cx="5467350" cy="46771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C50613D-D491-8AFE-23B9-7622D3AE6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8B52FAC-4047-12C4-7152-CCC3C2874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1471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2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B1D5B1BA-2A54-A4B4-8D95-D23FC7346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DA44E00-CE4C-DEFA-59B0-2D1EB3DFEA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0750" y="1497600"/>
            <a:ext cx="5467350" cy="46771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61674CA-C210-4CC8-AD56-620919F1D7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5150" y="1497600"/>
            <a:ext cx="5467350" cy="46771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C50613D-D491-8AFE-23B9-7622D3AE6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8B52FAC-4047-12C4-7152-CCC3C2874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385808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A34BB98-2FA4-CF77-ECF1-849C2AC601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7A644CC5-A470-87BF-8C8C-63F7986CA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16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6D83EBB-D68A-CEB3-9948-BAAC12B885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4937D5-C86E-A93D-2CA5-8358312563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000" y="1991361"/>
            <a:ext cx="11236960" cy="4153772"/>
          </a:xfrm>
          <a:prstGeom prst="rect">
            <a:avLst/>
          </a:prstGeom>
        </p:spPr>
        <p:txBody>
          <a:bodyPr numCol="1" spcCol="18288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15EE0-7A93-F2AA-0484-250ECE420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0A3FC-20F7-8567-CDE7-20075CF2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93831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1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5554CF88-6AB2-EAAC-D165-AC5626B48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16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6123722-9028-8400-1EEB-A3B7A17D1B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A9C4664-EF43-51E8-1B98-CB79AF49F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5348" y="2293857"/>
            <a:ext cx="9812337" cy="38512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3470A25-276A-A6E2-B598-6C2A99BF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183A3A6-C8E5-9580-34D2-56E027113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846304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AAF553E-73D8-14A5-3948-C678B8EAB3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E5D34B0-0BB2-D7C9-BDC6-8B098C717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16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31DFB46-1FBD-C760-B24D-C5229C17976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CADCF12-74B0-B901-0706-4A5629BD4A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0750" y="2041451"/>
            <a:ext cx="5467350" cy="413327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5361713C-0917-5F43-AFCF-7F8006AA96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5150" y="2041451"/>
            <a:ext cx="5467350" cy="413327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C50613D-D491-8AFE-23B9-7622D3AE6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8B52FAC-4047-12C4-7152-CCC3C2874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72228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2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9CF025CB-85D5-B3BD-DD2B-C24F1EE15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53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F7A9F92-02E6-5F66-1E17-3E29A51E7CF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C2033FE-4E4B-A0C1-849E-EA23CF66E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0750" y="2041451"/>
            <a:ext cx="5467350" cy="413327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761B914-986D-6EFB-978D-4D9C4FB223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5150" y="2041451"/>
            <a:ext cx="5467350" cy="413327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C50613D-D491-8AFE-23B9-7622D3AE6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8B52FAC-4047-12C4-7152-CCC3C2874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804876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3ABFE6-2E49-826B-654C-67E61E8AFA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A2791A1-B05F-7313-C3E3-E3CD95088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16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DD12485-1DB8-1D96-2B90-157359929E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44D23D-3532-8CE9-0959-BB4911C399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1813" y="2161688"/>
            <a:ext cx="3965575" cy="36963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 paragraph style – use this for your opening statement.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7878FB9-087C-5A19-44B6-68469BA605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7314" y="2158409"/>
            <a:ext cx="3236913" cy="3649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5EA9ADD6-E480-0D49-02A3-C1EAFC2CA5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14153" y="2158409"/>
            <a:ext cx="3236913" cy="3649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86195ACF-3BC9-8B96-B37C-4139FA9D6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AB638DF4-19CC-5EF5-79B0-C29D3A59F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35549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headline - 3 column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5">
            <a:extLst>
              <a:ext uri="{FF2B5EF4-FFF2-40B4-BE49-F238E27FC236}">
                <a16:creationId xmlns:a16="http://schemas.microsoft.com/office/drawing/2014/main" id="{DBCA8BF6-1868-8B73-894C-B7DD29B1A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15" y="831684"/>
            <a:ext cx="11150600" cy="470898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7F0FD64-6BF9-AB12-B0BB-2358D31AD2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813" y="1392238"/>
            <a:ext cx="11196637" cy="436562"/>
          </a:xfrm>
          <a:prstGeom prst="rect">
            <a:avLst/>
          </a:prstGeom>
        </p:spPr>
        <p:txBody>
          <a:bodyPr/>
          <a:lstStyle>
            <a:lvl1pPr>
              <a:defRPr sz="2000" b="1" i="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B0E5B96-AF16-7696-85CF-CA3740E55C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1813" y="2161688"/>
            <a:ext cx="3965575" cy="36963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 paragraph style – use this for your opening statement.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DBDBB463-6B68-AE39-7622-4DA8CA49000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7314" y="2158409"/>
            <a:ext cx="3236913" cy="3649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7368CE2-2996-E68E-983A-0404F62080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14153" y="2158409"/>
            <a:ext cx="3236913" cy="3649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DC1BE4C-A44F-B8B4-E0C8-6B9CF75F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8C4DAE2-994B-541B-B860-3849D534B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79175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BB1D1F-C94E-1323-9672-2B7ED7F429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55DF1C5B-BC12-B03D-5B13-601411EE4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5470525" cy="941796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DC2C25E-CA2A-0599-E09A-164295698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8" y="2181225"/>
            <a:ext cx="5475287" cy="397351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41F100-D98D-85E7-46DE-19DD9958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37376" y="900001"/>
            <a:ext cx="5003800" cy="5024759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F25451C-3C0D-D90B-78C2-CF99F58F2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09100" y="644401"/>
            <a:ext cx="2628900" cy="255600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r">
              <a:lnSpc>
                <a:spcPct val="100000"/>
              </a:lnSpc>
              <a:buNone/>
              <a:defRPr sz="600">
                <a:solidFill>
                  <a:schemeClr val="tx1"/>
                </a:solidFill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425CD37-852A-7039-B5EB-523AB2E7C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470DA41-AB5A-C3E8-F1B3-3682AD0A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971762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phot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8512B1-8E8F-CDE2-3622-3D0E7D0B97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9F899CA4-B463-DEA8-2479-AA37928F4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5470525" cy="941796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Large headline example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AC97E37-F96E-AA09-6F53-214495F4E9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5938" y="2172852"/>
            <a:ext cx="5475287" cy="37988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9C184DC-7264-D3DC-D677-18E6E3854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10388" y="900001"/>
            <a:ext cx="5027612" cy="5008562"/>
          </a:xfrm>
          <a:prstGeom prst="rect">
            <a:avLst/>
          </a:prstGeom>
          <a:solidFill>
            <a:schemeClr val="bg2"/>
          </a:solidFill>
        </p:spPr>
        <p:txBody>
          <a:bodyPr anchor="b"/>
          <a:lstStyle>
            <a:lvl1pPr marL="0" indent="0" algn="r">
              <a:buNone/>
              <a:defRPr/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2665161-A9F4-00B3-14D6-3A2C4378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09100" y="644401"/>
            <a:ext cx="2628900" cy="255600"/>
          </a:xfrm>
          <a:prstGeom prst="rect">
            <a:avLst/>
          </a:prstGeom>
        </p:spPr>
        <p:txBody>
          <a:bodyPr lIns="0" tIns="0" rIns="0" bIns="72000" anchor="b" anchorCtr="0"/>
          <a:lstStyle>
            <a:lvl1pPr marL="0" indent="0" algn="r">
              <a:lnSpc>
                <a:spcPct val="100000"/>
              </a:lnSpc>
              <a:buNone/>
              <a:defRPr sz="600">
                <a:solidFill>
                  <a:schemeClr val="tx1"/>
                </a:solidFill>
              </a:defRPr>
            </a:lvl1pPr>
            <a:lvl2pPr marL="457200" indent="0" algn="r">
              <a:buNone/>
              <a:defRPr sz="1200">
                <a:solidFill>
                  <a:schemeClr val="bg1"/>
                </a:solidFill>
              </a:defRPr>
            </a:lvl2pPr>
            <a:lvl3pPr marL="914400" indent="0" algn="r">
              <a:buNone/>
              <a:defRPr sz="12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PHOTO CREDIT HERE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E1B4875F-DC65-7CA0-B42D-AC9E802C9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1533A2-6FD8-4160-DCCA-549F065B4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08718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layout - 3 columns - gray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7B62C7-C314-F23F-AEB1-64E312C0C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6" y="134471"/>
            <a:ext cx="4411790" cy="6197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00B5219-B536-6C01-9258-0E31056EB8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3787775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E80B2B35-1C17-DFDC-49EC-45EF95E714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3787775" cy="1412694"/>
          </a:xfrm>
        </p:spPr>
        <p:txBody>
          <a:bodyPr wrap="square">
            <a:spAutoFit/>
          </a:bodyPr>
          <a:lstStyle>
            <a:lvl1pPr>
              <a:defRPr sz="3400" spc="0" baseline="0"/>
            </a:lvl1pPr>
          </a:lstStyle>
          <a:p>
            <a:r>
              <a:rPr lang="en-US" noProof="0"/>
              <a:t>Alternative layout</a:t>
            </a:r>
            <a:br>
              <a:rPr lang="en-US" noProof="0"/>
            </a:br>
            <a:r>
              <a:rPr lang="en-US" noProof="0"/>
              <a:t>example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317EC59-710B-CDE2-9650-C7F48C100F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3060000"/>
            <a:ext cx="3254887" cy="318404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noProof="0"/>
              <a:t>Intro paragraph style – use this for your opening statement.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0169E9-F134-4685-5C33-998323BCCA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8184" y="900001"/>
            <a:ext cx="2841628" cy="52851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A2093D2-6AD3-7DA8-C350-37696AD02C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72723" y="900001"/>
            <a:ext cx="2841628" cy="52851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0C5D38AF-55FE-6D58-FA54-F8E6CA96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552000"/>
            <a:ext cx="275784" cy="164232"/>
          </a:xfrm>
        </p:spPr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5303D0F5-25AD-29F2-6BFF-BC8891C2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6609" y="6534000"/>
            <a:ext cx="4114800" cy="170582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50218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4124" y="1800000"/>
            <a:ext cx="9683751" cy="2492990"/>
          </a:xfrm>
        </p:spPr>
        <p:txBody>
          <a:bodyPr wrap="square" anchor="b" anchorCtr="0">
            <a:spAutoFit/>
          </a:bodyPr>
          <a:lstStyle>
            <a:lvl1pPr algn="ctr">
              <a:defRPr sz="6000" spc="0" baseline="0"/>
            </a:lvl1pPr>
          </a:lstStyle>
          <a:p>
            <a:r>
              <a:rPr lang="en-US" noProof="0"/>
              <a:t>Centered statement </a:t>
            </a:r>
            <a:br>
              <a:rPr lang="en-US" noProof="0"/>
            </a:br>
            <a:r>
              <a:rPr lang="en-US" noProof="0"/>
              <a:t>or quote in large font </a:t>
            </a:r>
            <a:br>
              <a:rPr lang="en-US" noProof="0"/>
            </a:br>
            <a:r>
              <a:rPr lang="en-US" noProof="0"/>
              <a:t>would go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272F71-1FBC-3741-AFFB-C8F8C859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rgbClr val="FA6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125D1-4AC5-5849-8724-BC8D12E3E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8475" y="4950000"/>
            <a:ext cx="3575050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="0" cap="all" spc="300" baseline="0"/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C71AD-466B-C84C-B4D3-6A5062E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44931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3787775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1767150"/>
            <a:ext cx="7362825" cy="2991588"/>
          </a:xfrm>
        </p:spPr>
        <p:txBody>
          <a:bodyPr wrap="square" anchor="t" anchorCtr="0">
            <a:spAutoFit/>
          </a:bodyPr>
          <a:lstStyle>
            <a:lvl1pPr algn="l">
              <a:defRPr sz="5200" spc="0" baseline="0"/>
            </a:lvl1pPr>
          </a:lstStyle>
          <a:p>
            <a:r>
              <a:rPr lang="en-US" noProof="0"/>
              <a:t>Big statement or quote in large font would go here </a:t>
            </a:r>
            <a:br>
              <a:rPr lang="en-US" noProof="0"/>
            </a:br>
            <a:r>
              <a:rPr lang="en-US" noProof="0"/>
              <a:t>over four lines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125D1-4AC5-5849-8724-BC8D12E3E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4770000"/>
            <a:ext cx="3575050" cy="45402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 algn="l">
              <a:buNone/>
              <a:defRPr sz="1000" b="0" cap="all" spc="300" baseline="0"/>
            </a:lvl1pPr>
          </a:lstStyle>
          <a:p>
            <a:pPr lvl="0"/>
            <a:r>
              <a:rPr lang="en-US" noProof="0"/>
              <a:t>Person attributed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272F71-1FBC-3741-AFFB-C8F8C859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0700" y="5600792"/>
            <a:ext cx="859810" cy="0"/>
          </a:xfrm>
          <a:prstGeom prst="line">
            <a:avLst/>
          </a:prstGeom>
          <a:ln w="31750">
            <a:solidFill>
              <a:srgbClr val="FA6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297A0B40-FE80-4916-F47F-CE975A5FC47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9735" y="1767150"/>
            <a:ext cx="3343786" cy="383363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B41CC-F1AA-BD4E-90D3-A2565C5B5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0519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graph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671371-5587-194D-8B6E-8338ACD79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6" y="162046"/>
            <a:ext cx="4411790" cy="6169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3787775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3787775" cy="609398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</a:t>
            </a:r>
            <a:br>
              <a:rPr lang="en-US" noProof="0"/>
            </a:br>
            <a:r>
              <a:rPr lang="en-US" noProof="0"/>
              <a:t>example - graph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624607C-AD80-6839-B131-917ACBBA08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6609" y="1874901"/>
            <a:ext cx="3781866" cy="396885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10304-B92C-4065-95D7-99B302EEE4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4625" y="5843753"/>
            <a:ext cx="6316663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AF6F-1428-3447-9D5A-720B5877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838578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graph with content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671371-5587-194D-8B6E-8338ACD79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6" y="219919"/>
            <a:ext cx="4411790" cy="611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2A5B522-E766-843C-46C5-795151C6B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3787775" cy="609398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</a:t>
            </a:r>
            <a:br>
              <a:rPr lang="en-US" noProof="0"/>
            </a:br>
            <a:r>
              <a:rPr lang="en-US" noProof="0"/>
              <a:t>example - graph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624607C-AD80-6839-B131-917ACBBA08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6609" y="1874901"/>
            <a:ext cx="3781866" cy="396885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10304-B92C-4065-95D7-99B302EEE4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4625" y="5843753"/>
            <a:ext cx="6316663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AF6F-1428-3447-9D5A-720B5877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50866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graph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3787775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 - graph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C1A1776-D762-E433-EDBF-1A0F4FC300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6609" y="1874901"/>
            <a:ext cx="3781866" cy="396885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10304-B92C-4065-95D7-99B302EEE4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6662" y="5896916"/>
            <a:ext cx="3580336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AF6F-1428-3447-9D5A-720B5877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119273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tab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  - table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B8768AB-451F-3C3C-ECE4-E337A0A3AC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6609" y="1538940"/>
            <a:ext cx="2841628" cy="451248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6A8A8-177F-8547-9B2B-489A322D7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22829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table with content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87571DE-A764-5128-DC65-4CD9F79FD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11150600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  - table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B8768AB-451F-3C3C-ECE4-E337A0A3AC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6609" y="1538940"/>
            <a:ext cx="2841628" cy="451248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6A8A8-177F-8547-9B2B-489A322D7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662943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699" y="900001"/>
            <a:ext cx="11420475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only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080A0-7571-0046-9A82-2C4A81A8F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86452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table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699" y="900001"/>
            <a:ext cx="11420475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only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080A0-7571-0046-9A82-2C4A81A8F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32913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icon, 1 column, graph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699" y="900001"/>
            <a:ext cx="11420475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85B6414-885F-BE41-8FBC-59F527F4C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0699" y="1516768"/>
            <a:ext cx="1504800" cy="15048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None/>
              <a:defRPr sz="1400" b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628B55C-2989-0BBE-66BB-5D4B2F9C53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301283" y="1516768"/>
            <a:ext cx="2841628" cy="47257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B8F4E-21A1-1E42-8E72-67E788725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46223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icon, 1 column, graph or table - 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699" y="900001"/>
            <a:ext cx="11420475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85B6414-885F-BE41-8FBC-59F527F4C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0699" y="1516768"/>
            <a:ext cx="1504800" cy="15048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None/>
              <a:defRPr sz="1400" b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628B55C-2989-0BBE-66BB-5D4B2F9C53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301283" y="1516768"/>
            <a:ext cx="2841628" cy="47257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B8F4E-21A1-1E42-8E72-67E788725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942423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8D027C-A9D0-8BD6-5E7E-DF5D9031F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414" y="27294"/>
            <a:ext cx="864114" cy="0"/>
          </a:xfrm>
          <a:prstGeom prst="line">
            <a:avLst/>
          </a:prstGeom>
          <a:ln w="63500">
            <a:solidFill>
              <a:srgbClr val="FA6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7501708" cy="304699"/>
          </a:xfr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CC50EDFC-F364-954B-B316-972499610AA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0700" y="1328051"/>
            <a:ext cx="7517313" cy="70077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1600" b="0" spc="0"/>
            </a:lvl1pPr>
            <a:lvl2pPr>
              <a:defRPr lang="en-GB" b="0" i="0" smtClean="0">
                <a:effectLst/>
              </a:defRPr>
            </a:lvl2pPr>
            <a:lvl3pPr marL="180000" marR="0" indent="-180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lvl3pPr>
            <a:lvl4pPr marL="36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lvl4pPr>
            <a:lvl5pPr marL="228600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Body copy style. Enter your text here.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6B3C9B1B-45BA-634B-B21E-69B47F1C2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0701" y="2178676"/>
            <a:ext cx="1151346" cy="11520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 spc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410AB0-9FC2-938A-B884-381058D4455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07178" y="2200121"/>
            <a:ext cx="2188572" cy="1963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Body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8AE39A14-D8DB-DC46-8A16-E12277C3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0701" y="4451613"/>
            <a:ext cx="1151346" cy="11520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 spc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911DC1F-AF86-398A-C29E-001102F08B7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07178" y="4476327"/>
            <a:ext cx="2188572" cy="1963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Body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64858D87-3C4F-0E49-AB05-219D96DF2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389120" y="2178676"/>
            <a:ext cx="1151346" cy="11520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 spc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5C46EFB2-3A16-A107-14FD-AB8DEF9E7FA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764350" y="2200121"/>
            <a:ext cx="2188572" cy="1963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Body</a:t>
            </a:r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7CF3369F-B6D2-AB46-BFBF-E6D9F7E67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89120" y="4451613"/>
            <a:ext cx="1151346" cy="11520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 spc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F486C2E-A6B1-FC1D-F148-5680E274E7E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764350" y="4476327"/>
            <a:ext cx="2188572" cy="1963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Body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32DCA6-2F2B-7C5F-9225-E88EE705A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9904" y="219919"/>
            <a:ext cx="3619428" cy="611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0" noProof="0">
              <a:latin typeface="Arial" panose="020B0604020202020204" pitchFamily="34" charset="0"/>
            </a:endParaRP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595C70FB-7734-5D49-A52B-C163DC790E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80482" y="1399491"/>
            <a:ext cx="3090817" cy="45512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00" b="1" i="0" spc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noProof="0"/>
              <a:t>Sub headline</a:t>
            </a:r>
          </a:p>
        </p:txBody>
      </p:sp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6AA46ECB-4F91-8040-80F3-D0769AD9B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595360" y="2207929"/>
            <a:ext cx="1152000" cy="1152000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 spc="0"/>
            </a:lvl1pPr>
          </a:lstStyle>
          <a:p>
            <a:r>
              <a:rPr lang="en-US" noProof="0"/>
              <a:t>Drop your icon here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46F794A-2281-90BD-654D-CEFE59C629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595360" y="3542400"/>
            <a:ext cx="2188572" cy="1963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Body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 spc="0"/>
            </a:lvl1pPr>
          </a:lstStyle>
          <a:p>
            <a:fld id="{D857FD92-F09D-C344-8719-B7304083D6F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FA6A1-8B1A-E046-82B7-4CDA4C22F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 spc="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AA4D7-D055-CEFD-2BB8-26D5B6196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9375" y="6508800"/>
            <a:ext cx="1701800" cy="23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129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 - photos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0A42A-6948-2349-A312-9DD603001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00" y="396000"/>
            <a:ext cx="5683250" cy="1384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000" b="0" u="none" cap="all" spc="30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pPr lvl="0"/>
            <a:r>
              <a:rPr lang="en-US" noProof="0"/>
              <a:t>Section TITLE AS EYEBROW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BF7D9-10C4-DF4A-8957-D6A34C85B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900001"/>
            <a:ext cx="7501708" cy="304699"/>
          </a:xfrm>
        </p:spPr>
        <p:txBody>
          <a:bodyPr wrap="square">
            <a:spAutoFit/>
          </a:bodyPr>
          <a:lstStyle>
            <a:lvl1pPr>
              <a:defRPr sz="2200" spc="0" baseline="0"/>
            </a:lvl1pPr>
          </a:lstStyle>
          <a:p>
            <a:r>
              <a:rPr lang="en-US" noProof="0"/>
              <a:t>Small headline example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C76436B7-E314-9747-B1B6-FDDF06FDA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0700" y="1598337"/>
            <a:ext cx="3473231" cy="225723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None/>
              <a:defRPr sz="1200" b="0" spc="0"/>
            </a:lvl1pPr>
          </a:lstStyle>
          <a:p>
            <a:r>
              <a:rPr lang="en-US" noProof="0"/>
              <a:t>Drop your image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1B0EE4D-F71D-7A02-940A-3BF68E1C0C6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6608" y="4039431"/>
            <a:ext cx="3467322" cy="12202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spc="0"/>
            </a:lvl1pPr>
          </a:lstStyle>
          <a:p>
            <a:pPr lvl="0"/>
            <a:r>
              <a:rPr lang="en-US"/>
              <a:t>Body copy style. Enter your text here.</a:t>
            </a:r>
            <a:endParaRPr lang="en-GB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88023E51-3F08-604A-A85A-539C92352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59384" y="1598337"/>
            <a:ext cx="3473231" cy="225723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None/>
              <a:defRPr sz="1200" b="0" spc="0"/>
            </a:lvl1pPr>
          </a:lstStyle>
          <a:p>
            <a:r>
              <a:rPr lang="en-US" noProof="0"/>
              <a:t>Drop your image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B1DCF42-CDDE-8FE1-498F-70369847D2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59384" y="4039431"/>
            <a:ext cx="3473231" cy="12202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spc="0"/>
            </a:lvl1pPr>
          </a:lstStyle>
          <a:p>
            <a:pPr lvl="0"/>
            <a:r>
              <a:rPr lang="en-US"/>
              <a:t>Body copy style. Enter your text here.</a:t>
            </a:r>
            <a:endParaRPr lang="en-GB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5A1AACA1-6F08-634F-9A1A-FC5A10AAB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98069" y="1598337"/>
            <a:ext cx="3473231" cy="2257237"/>
          </a:xfrm>
          <a:custGeom>
            <a:avLst/>
            <a:gdLst>
              <a:gd name="connsiteX0" fmla="*/ 0 w 5949950"/>
              <a:gd name="connsiteY0" fmla="*/ 0 h 6356349"/>
              <a:gd name="connsiteX1" fmla="*/ 5949950 w 5949950"/>
              <a:gd name="connsiteY1" fmla="*/ 0 h 6356349"/>
              <a:gd name="connsiteX2" fmla="*/ 5949950 w 5949950"/>
              <a:gd name="connsiteY2" fmla="*/ 6356349 h 6356349"/>
              <a:gd name="connsiteX3" fmla="*/ 0 w 5949950"/>
              <a:gd name="connsiteY3" fmla="*/ 6356349 h 635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950" h="6356349">
                <a:moveTo>
                  <a:pt x="0" y="0"/>
                </a:moveTo>
                <a:lnTo>
                  <a:pt x="5949950" y="0"/>
                </a:lnTo>
                <a:lnTo>
                  <a:pt x="5949950" y="6356349"/>
                </a:lnTo>
                <a:lnTo>
                  <a:pt x="0" y="6356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marL="0" indent="0" algn="ctr">
              <a:buNone/>
              <a:defRPr sz="1200" b="0" spc="0"/>
            </a:lvl1pPr>
          </a:lstStyle>
          <a:p>
            <a:r>
              <a:rPr lang="en-US" noProof="0"/>
              <a:t>Drop your image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2B571FE-3429-E8CB-0420-A45C986CCAD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98069" y="4039431"/>
            <a:ext cx="3473231" cy="12202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spc="0"/>
            </a:lvl1pPr>
          </a:lstStyle>
          <a:p>
            <a:pPr lvl="0"/>
            <a:r>
              <a:rPr lang="en-US"/>
              <a:t>Body copy style. Enter your text here.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EF1DDC8-F66B-5A92-385A-7754BF33B0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608" y="5622285"/>
            <a:ext cx="7306007" cy="7247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spc="0"/>
            </a:lvl1pPr>
          </a:lstStyle>
          <a:p>
            <a:pPr lvl="0"/>
            <a:r>
              <a:rPr lang="en-US"/>
              <a:t>Body copy style. Enter your text here.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1815-E271-0043-B13A-65C960C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3A821-C651-0A4C-886A-283C67553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798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image" Target="../media/image7.em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EB5890-2665-7210-F51F-F0810D9D5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3166"/>
            <a:ext cx="12192000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C54B0-7CBE-23C1-4597-90674754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38BC4-D82D-D4D1-5F85-78FF573A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E2B3-E428-38FC-0C6C-B04B319B9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803"/>
            <a:ext cx="498475" cy="248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111125" indent="-111125" algn="l">
              <a:defRPr sz="1000">
                <a:solidFill>
                  <a:schemeClr val="accent2"/>
                </a:solidFill>
              </a:defRPr>
            </a:lvl1pPr>
          </a:lstStyle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652F-55CD-C070-46C5-B3E0B155F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5675" y="6400803"/>
            <a:ext cx="3108325" cy="248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Thomson Reuters Logo">
            <a:extLst>
              <a:ext uri="{FF2B5EF4-FFF2-40B4-BE49-F238E27FC236}">
                <a16:creationId xmlns:a16="http://schemas.microsoft.com/office/drawing/2014/main" id="{88270E69-C258-5B73-5F5B-B21AD98D3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55275" y="6188717"/>
            <a:ext cx="1279525" cy="4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5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8" r:id="rId10"/>
    <p:sldLayoutId id="2147483682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7" r:id="rId18"/>
    <p:sldLayoutId id="2147483708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lario" panose="020B0503030300000000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‐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‐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D64000"/>
          </p15:clr>
        </p15:guide>
        <p15:guide id="2" pos="7680" userDrawn="1">
          <p15:clr>
            <a:srgbClr val="D64000"/>
          </p15:clr>
        </p15:guide>
        <p15:guide id="3" pos="288" userDrawn="1">
          <p15:clr>
            <a:srgbClr val="D64000"/>
          </p15:clr>
        </p15:guide>
        <p15:guide id="4" pos="949" userDrawn="1">
          <p15:clr>
            <a:srgbClr val="D64000"/>
          </p15:clr>
        </p15:guide>
        <p15:guide id="5" pos="1093" userDrawn="1">
          <p15:clr>
            <a:srgbClr val="D64000"/>
          </p15:clr>
        </p15:guide>
        <p15:guide id="6" pos="1754" userDrawn="1">
          <p15:clr>
            <a:srgbClr val="D64000"/>
          </p15:clr>
        </p15:guide>
        <p15:guide id="7" pos="1898" userDrawn="1">
          <p15:clr>
            <a:srgbClr val="D64000"/>
          </p15:clr>
        </p15:guide>
        <p15:guide id="8" pos="2560" userDrawn="1">
          <p15:clr>
            <a:srgbClr val="D64000"/>
          </p15:clr>
        </p15:guide>
        <p15:guide id="9" pos="2712" userDrawn="1">
          <p15:clr>
            <a:srgbClr val="D64000"/>
          </p15:clr>
        </p15:guide>
        <p15:guide id="10" pos="3365" userDrawn="1">
          <p15:clr>
            <a:srgbClr val="D64000"/>
          </p15:clr>
        </p15:guide>
        <p15:guide id="11" pos="3509" userDrawn="1">
          <p15:clr>
            <a:srgbClr val="D64000"/>
          </p15:clr>
        </p15:guide>
        <p15:guide id="12" pos="4170" userDrawn="1">
          <p15:clr>
            <a:srgbClr val="D64000"/>
          </p15:clr>
        </p15:guide>
        <p15:guide id="13" pos="4314" userDrawn="1">
          <p15:clr>
            <a:srgbClr val="D64000"/>
          </p15:clr>
        </p15:guide>
        <p15:guide id="14" pos="4976" userDrawn="1">
          <p15:clr>
            <a:srgbClr val="D64000"/>
          </p15:clr>
        </p15:guide>
        <p15:guide id="15" pos="5120" userDrawn="1">
          <p15:clr>
            <a:srgbClr val="D64000"/>
          </p15:clr>
        </p15:guide>
        <p15:guide id="16" pos="5781" userDrawn="1">
          <p15:clr>
            <a:srgbClr val="D64000"/>
          </p15:clr>
        </p15:guide>
        <p15:guide id="17" pos="5925" userDrawn="1">
          <p15:clr>
            <a:srgbClr val="D64000"/>
          </p15:clr>
        </p15:guide>
        <p15:guide id="18" pos="6586" userDrawn="1">
          <p15:clr>
            <a:srgbClr val="D64000"/>
          </p15:clr>
        </p15:guide>
        <p15:guide id="19" pos="6730" userDrawn="1">
          <p15:clr>
            <a:srgbClr val="D64000"/>
          </p15:clr>
        </p15:guide>
        <p15:guide id="20" pos="7392" userDrawn="1">
          <p15:clr>
            <a:srgbClr val="D64000"/>
          </p15:clr>
        </p15:guide>
        <p15:guide id="21" orient="horz" userDrawn="1">
          <p15:clr>
            <a:srgbClr val="D64000"/>
          </p15:clr>
        </p15:guide>
        <p15:guide id="22" orient="horz" pos="4320" userDrawn="1">
          <p15:clr>
            <a:srgbClr val="D64000"/>
          </p15:clr>
        </p15:guide>
        <p15:guide id="23" orient="horz" pos="288" userDrawn="1">
          <p15:clr>
            <a:srgbClr val="D64000"/>
          </p15:clr>
        </p15:guide>
        <p15:guide id="24" orient="horz" pos="792" userDrawn="1">
          <p15:clr>
            <a:srgbClr val="D64000"/>
          </p15:clr>
        </p15:guide>
        <p15:guide id="25" orient="horz" pos="936" userDrawn="1">
          <p15:clr>
            <a:srgbClr val="D64000"/>
          </p15:clr>
        </p15:guide>
        <p15:guide id="26" orient="horz" pos="1440" userDrawn="1">
          <p15:clr>
            <a:srgbClr val="D64000"/>
          </p15:clr>
        </p15:guide>
        <p15:guide id="27" orient="horz" pos="1584" userDrawn="1">
          <p15:clr>
            <a:srgbClr val="D64000"/>
          </p15:clr>
        </p15:guide>
        <p15:guide id="28" orient="horz" pos="2088" userDrawn="1">
          <p15:clr>
            <a:srgbClr val="D64000"/>
          </p15:clr>
        </p15:guide>
        <p15:guide id="29" orient="horz" pos="2232" userDrawn="1">
          <p15:clr>
            <a:srgbClr val="D64000"/>
          </p15:clr>
        </p15:guide>
        <p15:guide id="30" orient="horz" pos="2736" userDrawn="1">
          <p15:clr>
            <a:srgbClr val="D64000"/>
          </p15:clr>
        </p15:guide>
        <p15:guide id="31" orient="horz" pos="2880" userDrawn="1">
          <p15:clr>
            <a:srgbClr val="D64000"/>
          </p15:clr>
        </p15:guide>
        <p15:guide id="32" orient="horz" pos="3384" userDrawn="1">
          <p15:clr>
            <a:srgbClr val="D64000"/>
          </p15:clr>
        </p15:guide>
        <p15:guide id="33" orient="horz" pos="3528" userDrawn="1">
          <p15:clr>
            <a:srgbClr val="D64000"/>
          </p15:clr>
        </p15:guide>
        <p15:guide id="34" orient="horz" pos="4032" userDrawn="1">
          <p15:clr>
            <a:srgbClr val="D64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C54B0-7CBE-23C1-4597-90674754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38BC4-D82D-D4D1-5F85-78FF573A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652F-55CD-C070-46C5-B3E0B155F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5675" y="6400803"/>
            <a:ext cx="3108325" cy="248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E2B3-E428-38FC-0C6C-B04B319B9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803"/>
            <a:ext cx="498475" cy="248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111125" indent="-111125" algn="l">
              <a:defRPr sz="1000">
                <a:solidFill>
                  <a:schemeClr val="accent2"/>
                </a:solidFill>
              </a:defRPr>
            </a:lvl1pPr>
          </a:lstStyle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‹nº›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70E69-C258-5B73-5F5B-B21AD98D3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55275" y="6188717"/>
            <a:ext cx="1279525" cy="42417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6D5D38E-B3B1-EA89-7C67-7F76E8864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820206"/>
            <a:ext cx="12192000" cy="0"/>
            <a:chOff x="0" y="6820206"/>
            <a:chExt cx="12192000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7BE5A5-C140-1D17-BA51-27A85F605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820206"/>
              <a:ext cx="9969500" cy="0"/>
            </a:xfrm>
            <a:prstGeom prst="line">
              <a:avLst/>
            </a:prstGeom>
            <a:ln w="635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D4EF8D-3464-3DDC-4A1E-52E6E8DBC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69500" y="6820206"/>
              <a:ext cx="2222500" cy="0"/>
            </a:xfrm>
            <a:prstGeom prst="line">
              <a:avLst/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239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27" r:id="rId2"/>
    <p:sldLayoutId id="2147483728" r:id="rId3"/>
    <p:sldLayoutId id="2147483732" r:id="rId4"/>
    <p:sldLayoutId id="2147483736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70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lario" panose="020B0503030300000000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‐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Clario" panose="020B0503030300000000" pitchFamily="34" charset="0"/>
        <a:buChar char="‐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lario" panose="020B05030303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D64000"/>
          </p15:clr>
        </p15:guide>
        <p15:guide id="2" pos="7680" userDrawn="1">
          <p15:clr>
            <a:srgbClr val="D64000"/>
          </p15:clr>
        </p15:guide>
        <p15:guide id="3" pos="288" userDrawn="1">
          <p15:clr>
            <a:srgbClr val="D64000"/>
          </p15:clr>
        </p15:guide>
        <p15:guide id="4" pos="949" userDrawn="1">
          <p15:clr>
            <a:srgbClr val="D64000"/>
          </p15:clr>
        </p15:guide>
        <p15:guide id="5" pos="1093" userDrawn="1">
          <p15:clr>
            <a:srgbClr val="D64000"/>
          </p15:clr>
        </p15:guide>
        <p15:guide id="6" pos="1754" userDrawn="1">
          <p15:clr>
            <a:srgbClr val="D64000"/>
          </p15:clr>
        </p15:guide>
        <p15:guide id="7" pos="1898" userDrawn="1">
          <p15:clr>
            <a:srgbClr val="D64000"/>
          </p15:clr>
        </p15:guide>
        <p15:guide id="8" pos="2560" userDrawn="1">
          <p15:clr>
            <a:srgbClr val="D64000"/>
          </p15:clr>
        </p15:guide>
        <p15:guide id="9" pos="2712" userDrawn="1">
          <p15:clr>
            <a:srgbClr val="D64000"/>
          </p15:clr>
        </p15:guide>
        <p15:guide id="10" pos="3365" userDrawn="1">
          <p15:clr>
            <a:srgbClr val="D64000"/>
          </p15:clr>
        </p15:guide>
        <p15:guide id="11" pos="3509" userDrawn="1">
          <p15:clr>
            <a:srgbClr val="D64000"/>
          </p15:clr>
        </p15:guide>
        <p15:guide id="12" pos="4170" userDrawn="1">
          <p15:clr>
            <a:srgbClr val="D64000"/>
          </p15:clr>
        </p15:guide>
        <p15:guide id="13" pos="4314" userDrawn="1">
          <p15:clr>
            <a:srgbClr val="D64000"/>
          </p15:clr>
        </p15:guide>
        <p15:guide id="14" pos="4976" userDrawn="1">
          <p15:clr>
            <a:srgbClr val="D64000"/>
          </p15:clr>
        </p15:guide>
        <p15:guide id="15" pos="5120" userDrawn="1">
          <p15:clr>
            <a:srgbClr val="D64000"/>
          </p15:clr>
        </p15:guide>
        <p15:guide id="16" pos="5781" userDrawn="1">
          <p15:clr>
            <a:srgbClr val="D64000"/>
          </p15:clr>
        </p15:guide>
        <p15:guide id="17" pos="5925" userDrawn="1">
          <p15:clr>
            <a:srgbClr val="D64000"/>
          </p15:clr>
        </p15:guide>
        <p15:guide id="18" pos="6586" userDrawn="1">
          <p15:clr>
            <a:srgbClr val="D64000"/>
          </p15:clr>
        </p15:guide>
        <p15:guide id="19" pos="6730" userDrawn="1">
          <p15:clr>
            <a:srgbClr val="D64000"/>
          </p15:clr>
        </p15:guide>
        <p15:guide id="20" pos="7392" userDrawn="1">
          <p15:clr>
            <a:srgbClr val="D64000"/>
          </p15:clr>
        </p15:guide>
        <p15:guide id="21" orient="horz" userDrawn="1">
          <p15:clr>
            <a:srgbClr val="D64000"/>
          </p15:clr>
        </p15:guide>
        <p15:guide id="22" orient="horz" pos="4320" userDrawn="1">
          <p15:clr>
            <a:srgbClr val="D64000"/>
          </p15:clr>
        </p15:guide>
        <p15:guide id="23" orient="horz" pos="288" userDrawn="1">
          <p15:clr>
            <a:srgbClr val="D64000"/>
          </p15:clr>
        </p15:guide>
        <p15:guide id="24" orient="horz" pos="792" userDrawn="1">
          <p15:clr>
            <a:srgbClr val="D64000"/>
          </p15:clr>
        </p15:guide>
        <p15:guide id="25" orient="horz" pos="936" userDrawn="1">
          <p15:clr>
            <a:srgbClr val="D64000"/>
          </p15:clr>
        </p15:guide>
        <p15:guide id="26" orient="horz" pos="1440" userDrawn="1">
          <p15:clr>
            <a:srgbClr val="D64000"/>
          </p15:clr>
        </p15:guide>
        <p15:guide id="27" orient="horz" pos="1584" userDrawn="1">
          <p15:clr>
            <a:srgbClr val="D64000"/>
          </p15:clr>
        </p15:guide>
        <p15:guide id="28" orient="horz" pos="2088" userDrawn="1">
          <p15:clr>
            <a:srgbClr val="D64000"/>
          </p15:clr>
        </p15:guide>
        <p15:guide id="29" orient="horz" pos="2232" userDrawn="1">
          <p15:clr>
            <a:srgbClr val="D64000"/>
          </p15:clr>
        </p15:guide>
        <p15:guide id="30" orient="horz" pos="2736" userDrawn="1">
          <p15:clr>
            <a:srgbClr val="D64000"/>
          </p15:clr>
        </p15:guide>
        <p15:guide id="31" orient="horz" pos="2880" userDrawn="1">
          <p15:clr>
            <a:srgbClr val="D64000"/>
          </p15:clr>
        </p15:guide>
        <p15:guide id="32" orient="horz" pos="3384" userDrawn="1">
          <p15:clr>
            <a:srgbClr val="D64000"/>
          </p15:clr>
        </p15:guide>
        <p15:guide id="33" orient="horz" pos="3528" userDrawn="1">
          <p15:clr>
            <a:srgbClr val="D64000"/>
          </p15:clr>
        </p15:guide>
        <p15:guide id="34" orient="horz" pos="4032" userDrawn="1">
          <p15:clr>
            <a:srgbClr val="D6400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2FCA4B-BCE0-57AD-4BC4-B0B2EB581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414" y="13006"/>
            <a:ext cx="864114" cy="0"/>
          </a:xfrm>
          <a:prstGeom prst="line">
            <a:avLst/>
          </a:prstGeom>
          <a:ln w="63500">
            <a:solidFill>
              <a:srgbClr val="FA6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5">
            <a:extLst>
              <a:ext uri="{FF2B5EF4-FFF2-40B4-BE49-F238E27FC236}">
                <a16:creationId xmlns:a16="http://schemas.microsoft.com/office/drawing/2014/main" id="{D6002CB4-4AF6-587D-9C65-D6E58319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900000"/>
            <a:ext cx="5470525" cy="9855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12D52B-6412-8F0E-915B-921935FFC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00" y="2106514"/>
            <a:ext cx="6854579" cy="3697833"/>
          </a:xfrm>
          <a:prstGeom prst="rect">
            <a:avLst/>
          </a:prstGeom>
        </p:spPr>
        <p:txBody>
          <a:bodyPr vert="horz" lIns="0" tIns="0" rIns="0" bIns="0" numCol="1" spcCol="18288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714310-F6DD-6D72-158B-1694995AD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9375" y="6508800"/>
            <a:ext cx="1701800" cy="231625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48CC88C-17A7-9589-00E1-9D793B03A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825" y="6552000"/>
            <a:ext cx="275784" cy="16423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u="sng" baseline="0">
                <a:solidFill>
                  <a:schemeClr val="tx1"/>
                </a:solidFill>
                <a:uFill>
                  <a:solidFill>
                    <a:schemeClr val="bg2"/>
                  </a:solidFill>
                </a:uFill>
              </a:defRPr>
            </a:lvl1pPr>
          </a:lstStyle>
          <a:p>
            <a:fld id="{D857FD92-F09D-C344-8719-B7304083D6F0}" type="slidenum">
              <a:rPr lang="en-US" noProof="0" smtClean="0"/>
              <a:pPr/>
              <a:t>‹nº›</a:t>
            </a:fld>
            <a:endParaRPr lang="en-US" noProof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AF1A4A71-9506-8009-41FB-B6652648D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7874" y="6555265"/>
            <a:ext cx="4114800" cy="17058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801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1638" indent="-169863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81025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System Font Regular"/>
        <a:buChar char="−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03275" indent="-168275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36638" indent="-169863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144">
          <p15:clr>
            <a:srgbClr val="F26B43"/>
          </p15:clr>
        </p15:guide>
        <p15:guide id="4" pos="579">
          <p15:clr>
            <a:srgbClr val="F26B43"/>
          </p15:clr>
        </p15:guide>
        <p15:guide id="5" pos="723">
          <p15:clr>
            <a:srgbClr val="F26B43"/>
          </p15:clr>
        </p15:guide>
        <p15:guide id="6" pos="1159">
          <p15:clr>
            <a:srgbClr val="F26B43"/>
          </p15:clr>
        </p15:guide>
        <p15:guide id="7" pos="1303">
          <p15:clr>
            <a:srgbClr val="F26B43"/>
          </p15:clr>
        </p15:guide>
        <p15:guide id="8" pos="1739">
          <p15:clr>
            <a:srgbClr val="F26B43"/>
          </p15:clr>
        </p15:guide>
        <p15:guide id="9" pos="1883">
          <p15:clr>
            <a:srgbClr val="F26B43"/>
          </p15:clr>
        </p15:guide>
        <p15:guide id="10" pos="2318">
          <p15:clr>
            <a:srgbClr val="F26B43"/>
          </p15:clr>
        </p15:guide>
        <p15:guide id="11" pos="2462">
          <p15:clr>
            <a:srgbClr val="F26B43"/>
          </p15:clr>
        </p15:guide>
        <p15:guide id="12" pos="2898">
          <p15:clr>
            <a:srgbClr val="F26B43"/>
          </p15:clr>
        </p15:guide>
        <p15:guide id="13" pos="3042">
          <p15:clr>
            <a:srgbClr val="F26B43"/>
          </p15:clr>
        </p15:guide>
        <p15:guide id="14" pos="3478">
          <p15:clr>
            <a:srgbClr val="F26B43"/>
          </p15:clr>
        </p15:guide>
        <p15:guide id="15" pos="3622">
          <p15:clr>
            <a:srgbClr val="F26B43"/>
          </p15:clr>
        </p15:guide>
        <p15:guide id="16" pos="4057">
          <p15:clr>
            <a:srgbClr val="F26B43"/>
          </p15:clr>
        </p15:guide>
        <p15:guide id="17" pos="4201">
          <p15:clr>
            <a:srgbClr val="F26B43"/>
          </p15:clr>
        </p15:guide>
        <p15:guide id="18" pos="4637">
          <p15:clr>
            <a:srgbClr val="F26B43"/>
          </p15:clr>
        </p15:guide>
        <p15:guide id="19" pos="4781">
          <p15:clr>
            <a:srgbClr val="F26B43"/>
          </p15:clr>
        </p15:guide>
        <p15:guide id="20" pos="5217">
          <p15:clr>
            <a:srgbClr val="F26B43"/>
          </p15:clr>
        </p15:guide>
        <p15:guide id="21" pos="5361">
          <p15:clr>
            <a:srgbClr val="F26B43"/>
          </p15:clr>
        </p15:guide>
        <p15:guide id="22" pos="5796">
          <p15:clr>
            <a:srgbClr val="F26B43"/>
          </p15:clr>
        </p15:guide>
        <p15:guide id="23" pos="5940">
          <p15:clr>
            <a:srgbClr val="F26B43"/>
          </p15:clr>
        </p15:guide>
        <p15:guide id="24" pos="6376">
          <p15:clr>
            <a:srgbClr val="F26B43"/>
          </p15:clr>
        </p15:guide>
        <p15:guide id="25" pos="6520">
          <p15:clr>
            <a:srgbClr val="F26B43"/>
          </p15:clr>
        </p15:guide>
        <p15:guide id="26" pos="6956">
          <p15:clr>
            <a:srgbClr val="F26B43"/>
          </p15:clr>
        </p15:guide>
        <p15:guide id="27" pos="7100">
          <p15:clr>
            <a:srgbClr val="F26B43"/>
          </p15:clr>
        </p15:guide>
        <p15:guide id="28" pos="7536">
          <p15:clr>
            <a:srgbClr val="F26B43"/>
          </p15:clr>
        </p15:guide>
        <p15:guide id="29" orient="horz">
          <p15:clr>
            <a:srgbClr val="F26B43"/>
          </p15:clr>
        </p15:guide>
        <p15:guide id="30" orient="horz" pos="4320">
          <p15:clr>
            <a:srgbClr val="F26B43"/>
          </p15:clr>
        </p15:guide>
        <p15:guide id="31" orient="horz" pos="216">
          <p15:clr>
            <a:srgbClr val="F26B43"/>
          </p15:clr>
        </p15:guide>
        <p15:guide id="32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terprise.service-now.com/now/platform-analytics-workspace/dashboards/params/edit/false/sys-id/989fd4940f713e105fb4e0d300d1b20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21208"/>
            <a:ext cx="9966960" cy="54864"/>
          </a:xfrm>
          <a:prstGeom prst="rect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176272" y="438912"/>
            <a:ext cx="219456" cy="219456"/>
          </a:xfrm>
          <a:prstGeom prst="ellipse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91440" y="1984248"/>
            <a:ext cx="7863840" cy="54864"/>
          </a:xfrm>
          <a:prstGeom prst="rect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87552" y="1901952"/>
            <a:ext cx="219456" cy="219456"/>
          </a:xfrm>
          <a:prstGeom prst="ellipse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91440" y="4361688"/>
            <a:ext cx="8778240" cy="54864"/>
          </a:xfrm>
          <a:prstGeom prst="rect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205472" y="4279392"/>
            <a:ext cx="219456" cy="219456"/>
          </a:xfrm>
          <a:prstGeom prst="ellipse">
            <a:avLst/>
          </a:prstGeom>
          <a:solidFill>
            <a:srgbClr val="D14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Follow-up</a:t>
            </a:r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</a:rPr>
              <a:t>Domínio Cloud 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</a:rPr>
              <a:t>2026_S08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8288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74151"/>
                </a:solidFill>
              </a:rPr>
              <a:t>23/04/2026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601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280"/>
                </a:solidFill>
              </a:rPr>
              <a:t>Thomson Reuters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660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33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</a:rPr>
              <a:t>DELIVERY FOLLOW-UP
</a:t>
            </a:r>
            <a:r>
              <a:rPr lang="en-US" sz="2000" b="1">
                <a:solidFill>
                  <a:srgbClr val="FFFFFF"/>
                </a:solidFill>
              </a:rPr>
              <a:t>Recap &amp; Issues &amp; Action Plan</a:t>
            </a:r>
            <a:endParaRPr lang="en-US" sz="8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Domínio Cloud  · Sprint 08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5C3A"/>
                </a:solidFill>
              </a:rPr>
              <a:t>PENDENCIAS DA ÚLTIMA REUNIAO / RECAP</a:t>
            </a:r>
            <a:endParaRPr lang="en-US" sz="9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645920"/>
          <a:ext cx="1124712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Pendencia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Observacao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Plano de redução de custo com Datadog e Ambientes PRE-PROD desligados a noite e final de semana.​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Atencao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Planejamento da construção do Lalur​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Atencao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Rotacionamento de Chaves (Issue) – trouxe trabalho extra para a sprint, prejudicando alguns deploys para PROD​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Atencao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Plano Onvio Folha: Coleta de informações sobre uso do Dominio Folha para criação do plano de migração.​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Atencao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F4444"/>
                </a:solidFill>
              </a:rPr>
              <a:t>RISCOS E PLANO DE AÇÃO</a:t>
            </a:r>
            <a:endParaRPr lang="en-US" sz="900"/>
          </a:p>
        </p:txBody>
      </p:sp>
      <p:graphicFrame>
        <p:nvGraphicFramePr>
          <p:cNvPr id="5" name="Table 1"/>
          <p:cNvGraphicFramePr>
            <a:graphicFrameLocks noGrp="1"/>
          </p:cNvGraphicFramePr>
          <p:nvPr/>
        </p:nvGraphicFramePr>
        <p:xfrm>
          <a:off x="457200" y="3886200"/>
          <a:ext cx="11247120" cy="2057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Sev.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Risco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Area Afetada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Plano de Acao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Prazo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Critico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Provisionamento de serviço de nova tecnologia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Certificados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Revisão da utilização do Lambda 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Flaris Martinhago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23/04/2026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Critico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Adequação do pipeline para deploy no dia​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Portfólio Onvio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Revisão de todo o ciclo de build, deploy e quality gate​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Adriano Dias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29/04/2026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Curva de adoção do uso de IA​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Portfólio Onvio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Foco em grupos menores de pessoa para o acompanhamento ser mais próximo​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Adriano Dias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29/05/2026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Restruturação do time​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Portfólio Onvio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Provação financeira para efetuar as contratações​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Adriano Dias / Ulisses​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29/04/2026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Atencao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Integração Dominio / Onvio​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Portfólio Onvio + Domínio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Alinhamento entre times para remover os impedimentos​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Adriano Dias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24/04/2026​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Thomson Reuters · Delivery Follow-up · Confidencial</a:t>
            </a:r>
            <a:endParaRPr lang="en-US"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C0C157-F373-D05F-B118-434E2B9A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A3833D-B9F3-A8D3-F3C5-494B42A431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ONVIO BR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756E9-6EDA-5681-6D1F-07524D482A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1417760"/>
            <a:ext cx="11562080" cy="5318319"/>
          </a:xfr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numCol="1" rtlCol="0" anchor="t"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503030300000000" pitchFamily="34" charset="0"/>
              <a:buChar char="•"/>
            </a:pPr>
            <a:r>
              <a:rPr lang="pt-BR" sz="1400">
                <a:ea typeface="+mn-lt"/>
                <a:cs typeface="+mn-lt"/>
              </a:rPr>
              <a:t>Plano de redução de custo com </a:t>
            </a:r>
            <a:r>
              <a:rPr lang="pt-BR" sz="1400" err="1">
                <a:ea typeface="+mn-lt"/>
                <a:cs typeface="+mn-lt"/>
              </a:rPr>
              <a:t>Datadog</a:t>
            </a:r>
            <a:r>
              <a:rPr lang="pt-BR" sz="1400">
                <a:ea typeface="+mn-lt"/>
                <a:cs typeface="+mn-lt"/>
              </a:rPr>
              <a:t> e Ambientes PRE-PROD desligados a noite e final de semana.</a:t>
            </a:r>
          </a:p>
          <a:p>
            <a:pPr marL="285750" indent="-285750">
              <a:spcAft>
                <a:spcPts val="600"/>
              </a:spcAft>
              <a:buFont typeface="Arial" panose="020B0503030300000000" pitchFamily="34" charset="0"/>
              <a:buChar char="•"/>
            </a:pPr>
            <a:r>
              <a:rPr lang="pt-BR" sz="1400">
                <a:ea typeface="+mn-lt"/>
                <a:cs typeface="+mn-lt"/>
              </a:rPr>
              <a:t>Planejamento da construção do </a:t>
            </a:r>
            <a:r>
              <a:rPr lang="pt-BR" sz="1400" err="1">
                <a:ea typeface="+mn-lt"/>
                <a:cs typeface="+mn-lt"/>
              </a:rPr>
              <a:t>Lalur</a:t>
            </a:r>
            <a:endParaRPr lang="pt-BR" sz="140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503030300000000" pitchFamily="34" charset="0"/>
              <a:buChar char="•"/>
            </a:pPr>
            <a:r>
              <a:rPr lang="pt-BR" sz="1400">
                <a:ea typeface="+mn-lt"/>
                <a:cs typeface="+mn-lt"/>
              </a:rPr>
              <a:t>Rotacionamento de Chaves (</a:t>
            </a:r>
            <a:r>
              <a:rPr lang="pt-BR" sz="1400" err="1">
                <a:ea typeface="+mn-lt"/>
                <a:cs typeface="+mn-lt"/>
              </a:rPr>
              <a:t>Issue</a:t>
            </a:r>
            <a:r>
              <a:rPr lang="pt-BR" sz="1400">
                <a:ea typeface="+mn-lt"/>
                <a:cs typeface="+mn-lt"/>
              </a:rPr>
              <a:t>) – trouxe trabalho extra para a sprint, prejudicando alguns </a:t>
            </a:r>
            <a:r>
              <a:rPr lang="pt-BR" sz="1400" err="1">
                <a:ea typeface="+mn-lt"/>
                <a:cs typeface="+mn-lt"/>
              </a:rPr>
              <a:t>deploys</a:t>
            </a:r>
            <a:r>
              <a:rPr lang="pt-BR" sz="1400">
                <a:ea typeface="+mn-lt"/>
                <a:cs typeface="+mn-lt"/>
              </a:rPr>
              <a:t> para PROD</a:t>
            </a:r>
          </a:p>
          <a:p>
            <a:pPr marL="285750" indent="-285750">
              <a:spcAft>
                <a:spcPts val="600"/>
              </a:spcAft>
              <a:buFont typeface="Arial" panose="020B0503030300000000" pitchFamily="34" charset="0"/>
              <a:buChar char="•"/>
            </a:pPr>
            <a:r>
              <a:rPr lang="pt-BR" sz="1400">
                <a:ea typeface="+mn-lt"/>
                <a:cs typeface="+mn-lt"/>
              </a:rPr>
              <a:t>Plano </a:t>
            </a:r>
            <a:r>
              <a:rPr lang="pt-BR" sz="1400" err="1">
                <a:ea typeface="+mn-lt"/>
                <a:cs typeface="+mn-lt"/>
              </a:rPr>
              <a:t>Onvio</a:t>
            </a:r>
            <a:r>
              <a:rPr lang="pt-BR" sz="1400">
                <a:ea typeface="+mn-lt"/>
                <a:cs typeface="+mn-lt"/>
              </a:rPr>
              <a:t> Folha: Coleta de informações sobre uso do Dominio Folha para criação do plano de migração.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E3299420-493A-AD87-1110-85793AF3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87955"/>
            <a:ext cx="11277600" cy="646331"/>
          </a:xfrm>
        </p:spPr>
        <p:txBody>
          <a:bodyPr/>
          <a:lstStyle/>
          <a:p>
            <a:r>
              <a:rPr lang="en-US"/>
              <a:t>Recap / Pending</a:t>
            </a:r>
          </a:p>
        </p:txBody>
      </p:sp>
    </p:spTree>
    <p:extLst>
      <p:ext uri="{BB962C8B-B14F-4D97-AF65-F5344CB8AC3E}">
        <p14:creationId xmlns:p14="http://schemas.microsoft.com/office/powerpoint/2010/main" val="83917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8A2B20-F0AE-D93C-58C8-28000EB7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EEF40F7-207A-3118-433F-736090D4C7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199" y="91057"/>
            <a:ext cx="5800725" cy="60837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&amp; Risks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FE1137-A06C-02F9-2BBF-65E033A47B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4</a:t>
            </a:fld>
            <a:endParaRPr lang="en-US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5E124A18-5311-92DC-2EE9-9E6CECF54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79DC618-0466-2769-AA9F-04F446CF8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306888"/>
              </p:ext>
            </p:extLst>
          </p:nvPr>
        </p:nvGraphicFramePr>
        <p:xfrm>
          <a:off x="248092" y="328419"/>
          <a:ext cx="11695815" cy="1346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4">
                  <a:extLst>
                    <a:ext uri="{9D8B030D-6E8A-4147-A177-3AD203B41FA5}">
                      <a16:colId xmlns:a16="http://schemas.microsoft.com/office/drawing/2014/main" val="2783399321"/>
                    </a:ext>
                  </a:extLst>
                </a:gridCol>
                <a:gridCol w="3014156">
                  <a:extLst>
                    <a:ext uri="{9D8B030D-6E8A-4147-A177-3AD203B41FA5}">
                      <a16:colId xmlns:a16="http://schemas.microsoft.com/office/drawing/2014/main" val="3870096461"/>
                    </a:ext>
                  </a:extLst>
                </a:gridCol>
                <a:gridCol w="700321">
                  <a:extLst>
                    <a:ext uri="{9D8B030D-6E8A-4147-A177-3AD203B41FA5}">
                      <a16:colId xmlns:a16="http://schemas.microsoft.com/office/drawing/2014/main" val="322493459"/>
                    </a:ext>
                  </a:extLst>
                </a:gridCol>
                <a:gridCol w="3617875">
                  <a:extLst>
                    <a:ext uri="{9D8B030D-6E8A-4147-A177-3AD203B41FA5}">
                      <a16:colId xmlns:a16="http://schemas.microsoft.com/office/drawing/2014/main" val="2443054346"/>
                    </a:ext>
                  </a:extLst>
                </a:gridCol>
                <a:gridCol w="1458519">
                  <a:extLst>
                    <a:ext uri="{9D8B030D-6E8A-4147-A177-3AD203B41FA5}">
                      <a16:colId xmlns:a16="http://schemas.microsoft.com/office/drawing/2014/main" val="1792187625"/>
                    </a:ext>
                  </a:extLst>
                </a:gridCol>
                <a:gridCol w="928680">
                  <a:extLst>
                    <a:ext uri="{9D8B030D-6E8A-4147-A177-3AD203B41FA5}">
                      <a16:colId xmlns:a16="http://schemas.microsoft.com/office/drawing/2014/main" val="1918006381"/>
                    </a:ext>
                  </a:extLst>
                </a:gridCol>
                <a:gridCol w="928680">
                  <a:extLst>
                    <a:ext uri="{9D8B030D-6E8A-4147-A177-3AD203B41FA5}">
                      <a16:colId xmlns:a16="http://schemas.microsoft.com/office/drawing/2014/main" val="215342765"/>
                    </a:ext>
                  </a:extLst>
                </a:gridCol>
              </a:tblGrid>
              <a:tr h="213676">
                <a:tc>
                  <a:txBody>
                    <a:bodyPr/>
                    <a:lstStyle/>
                    <a:p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Iniciativa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err="1">
                          <a:latin typeface="Calibri"/>
                          <a:ea typeface="Calibri"/>
                          <a:cs typeface="Calibri"/>
                        </a:rPr>
                        <a:t>Issue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/Risk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err="1"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pt-BR" sz="1100" err="1">
                          <a:latin typeface="Calibri"/>
                          <a:ea typeface="Calibri"/>
                          <a:cs typeface="Calibri"/>
                        </a:rPr>
                        <a:t>Plan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lang="pt-BR" sz="1100" err="1">
                          <a:latin typeface="Calibri"/>
                          <a:ea typeface="Calibri"/>
                          <a:cs typeface="Calibri"/>
                        </a:rPr>
                        <a:t>Mitigacion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Responsável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Prazo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403180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r>
                        <a:rPr lang="pt-BR" sz="900" b="1">
                          <a:latin typeface="Calibri"/>
                          <a:ea typeface="Calibri"/>
                          <a:cs typeface="Calibri"/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Restruturação do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Provação financeira para efetuar as contratações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Adriano Dias / Ulisses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30/04/2026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18211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 b="1">
                          <a:latin typeface="Calibri"/>
                          <a:ea typeface="Calibri"/>
                          <a:cs typeface="Calibri"/>
                        </a:rPr>
                        <a:t>Produtividade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Adequação do pipeline para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deploy</a:t>
                      </a: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 no 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Revisão de todo o ciclo de build,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deploy</a:t>
                      </a: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 e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quality</a:t>
                      </a: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gate</a:t>
                      </a:r>
                      <a:endParaRPr lang="pt-BR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Adriano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30/04/2026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hold</a:t>
                      </a:r>
                      <a:endParaRPr lang="pt-BR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478749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 b="1">
                          <a:latin typeface="Calibri"/>
                          <a:ea typeface="Calibri"/>
                          <a:cs typeface="Calibri"/>
                        </a:rPr>
                        <a:t>Produtividade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Curva de adoção do uso de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Foco em grupos menores de pessoa para o acompanhamento ser mais próximo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Adriano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30/05/2026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037894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 b="1">
                          <a:latin typeface="Calibri"/>
                          <a:ea typeface="Calibri"/>
                          <a:cs typeface="Calibri"/>
                        </a:rP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Integração Dominio / </a:t>
                      </a:r>
                      <a:r>
                        <a:rPr lang="pt-BR" sz="900" err="1">
                          <a:latin typeface="Calibri"/>
                          <a:ea typeface="Calibri"/>
                          <a:cs typeface="Calibri"/>
                        </a:rPr>
                        <a:t>Onvio</a:t>
                      </a:r>
                      <a:endParaRPr lang="pt-BR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Alinhamento entre times para remover os impedimentos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Adriano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24/04/2026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900">
                          <a:latin typeface="Calibri"/>
                          <a:ea typeface="Calibri"/>
                          <a:cs typeface="Calibri"/>
                        </a:rPr>
                        <a:t>Agendada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9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7315200" cy="9144000"/>
          </a:xfrm>
          <a:prstGeom prst="ellipse">
            <a:avLst/>
          </a:prstGeom>
          <a:ln w="12700">
            <a:solidFill>
              <a:srgbClr val="C4A4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9144000" cy="8229600"/>
          </a:xfrm>
          <a:prstGeom prst="ellipse">
            <a:avLst/>
          </a:prstGeom>
          <a:ln w="12700">
            <a:solidFill>
              <a:srgbClr val="C4A4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0" y="-914400"/>
            <a:ext cx="5486400" cy="10058400"/>
          </a:xfrm>
          <a:prstGeom prst="ellipse">
            <a:avLst/>
          </a:prstGeom>
          <a:ln w="12700">
            <a:solidFill>
              <a:srgbClr val="C4A4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14400" y="914400"/>
            <a:ext cx="10972800" cy="6400800"/>
          </a:xfrm>
          <a:prstGeom prst="ellipse">
            <a:avLst/>
          </a:prstGeom>
          <a:ln w="12700">
            <a:solidFill>
              <a:srgbClr val="C4A4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320040" cy="320040"/>
          </a:xfrm>
          <a:prstGeom prst="ellipse">
            <a:avLst/>
          </a:prstGeom>
          <a:solidFill>
            <a:srgbClr val="C4A4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943600" y="731520"/>
            <a:ext cx="320040" cy="320040"/>
          </a:xfrm>
          <a:prstGeom prst="ellipse">
            <a:avLst/>
          </a:prstGeom>
          <a:solidFill>
            <a:srgbClr val="C4A4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01200" y="5029200"/>
            <a:ext cx="320040" cy="320040"/>
          </a:xfrm>
          <a:prstGeom prst="ellipse">
            <a:avLst/>
          </a:prstGeom>
          <a:solidFill>
            <a:srgbClr val="C4A4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33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4400"/>
          </a:p>
        </p:txBody>
      </p:sp>
      <p:sp>
        <p:nvSpPr>
          <p:cNvPr id="10" name="Text 8"/>
          <p:cNvSpPr/>
          <p:nvPr/>
        </p:nvSpPr>
        <p:spPr>
          <a:xfrm>
            <a:off x="9601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280"/>
                </a:solidFill>
              </a:rPr>
              <a:t>Thomson Reuters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8425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33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800" b="1">
                <a:solidFill>
                  <a:srgbClr val="FFFFFF"/>
                </a:solidFill>
              </a:rPr>
              <a:t>DELIVERY FOLLOW-UP
</a:t>
            </a:r>
            <a:r>
              <a:rPr lang="en-US" sz="2000" b="1">
                <a:solidFill>
                  <a:srgbClr val="FFFFFF"/>
                </a:solidFill>
              </a:rPr>
              <a:t>2. Dashboard Consolidado Q2</a:t>
            </a:r>
            <a:endParaRPr lang="en-US" sz="800"/>
          </a:p>
          <a:p>
            <a:pPr marL="0" indent="0">
              <a:buNone/>
            </a:pPr>
            <a:r>
              <a:rPr lang="en-US" sz="1000" err="1">
                <a:solidFill>
                  <a:srgbClr val="FFFFFF"/>
                </a:solidFill>
              </a:rPr>
              <a:t>Domínio</a:t>
            </a:r>
            <a:r>
              <a:rPr lang="en-US" sz="1000">
                <a:solidFill>
                  <a:srgbClr val="FFFFFF"/>
                </a:solidFill>
              </a:rPr>
              <a:t> Cloud  · Sprint 08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E40AF"/>
                </a:solidFill>
              </a:rPr>
              <a:t>78
</a:t>
            </a:r>
            <a:r>
              <a:rPr lang="en-US" sz="650">
                <a:solidFill>
                  <a:srgbClr val="6B7280"/>
                </a:solidFill>
              </a:rPr>
              <a:t>ENTREGAS ASSUMIDAS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2743200" y="14173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66534"/>
                </a:solidFill>
              </a:rPr>
              <a:t>6
</a:t>
            </a:r>
            <a:r>
              <a:rPr lang="en-US" sz="650">
                <a:solidFill>
                  <a:srgbClr val="6B7280"/>
                </a:solidFill>
              </a:rPr>
              <a:t>ENTREGAS REALIZADAS</a:t>
            </a:r>
            <a:endParaRPr lang="en-US" sz="300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6D28D9"/>
                </a:solidFill>
              </a:rPr>
              <a:t>12
</a:t>
            </a:r>
            <a:r>
              <a:rPr lang="en-US" sz="650">
                <a:solidFill>
                  <a:srgbClr val="6B7280"/>
                </a:solidFill>
              </a:rPr>
              <a:t>INICIATIVAS EM ANDAMENTO</a:t>
            </a:r>
            <a:endParaRPr lang="en-US" sz="3000"/>
          </a:p>
        </p:txBody>
      </p:sp>
      <p:sp>
        <p:nvSpPr>
          <p:cNvPr id="10" name="Shape 8"/>
          <p:cNvSpPr/>
          <p:nvPr/>
        </p:nvSpPr>
        <p:spPr>
          <a:xfrm>
            <a:off x="7315200" y="14173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991B1B"/>
                </a:solidFill>
              </a:rPr>
              <a:t>1
</a:t>
            </a:r>
            <a:r>
              <a:rPr lang="en-US" sz="650">
                <a:solidFill>
                  <a:srgbClr val="6B7280"/>
                </a:solidFill>
              </a:rPr>
              <a:t>BLOQUEADAS</a:t>
            </a:r>
            <a:endParaRPr lang="en-US" sz="3000"/>
          </a:p>
        </p:txBody>
      </p:sp>
      <p:sp>
        <p:nvSpPr>
          <p:cNvPr id="12" name="Shape 10"/>
          <p:cNvSpPr/>
          <p:nvPr/>
        </p:nvSpPr>
        <p:spPr>
          <a:xfrm>
            <a:off x="9601200" y="14173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60120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92400E"/>
                </a:solidFill>
              </a:rPr>
              <a:t>16
</a:t>
            </a:r>
            <a:r>
              <a:rPr lang="en-US" sz="650">
                <a:solidFill>
                  <a:srgbClr val="6B7280"/>
                </a:solidFill>
              </a:rPr>
              <a:t>ATRASADAS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33C2C"/>
                </a:solidFill>
              </a:rPr>
              <a:t>PROGRESSO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3291840" cy="594360"/>
          </a:xfrm>
          <a:prstGeom prst="rect">
            <a:avLst/>
          </a:prstGeom>
          <a:solidFill>
            <a:srgbClr val="E8F0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3C2C"/>
                </a:solidFill>
              </a:rPr>
              <a:t>7,69
</a:t>
            </a:r>
            <a:r>
              <a:rPr lang="en-US" sz="800">
                <a:solidFill>
                  <a:srgbClr val="6B7280"/>
                </a:solidFill>
              </a:rPr>
              <a:t>% Conclusao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4114800" y="3063240"/>
            <a:ext cx="3291840" cy="594360"/>
          </a:xfrm>
          <a:prstGeom prst="rect">
            <a:avLst/>
          </a:prstGeom>
          <a:solidFill>
            <a:srgbClr val="E8F0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5196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3C2C"/>
                </a:solidFill>
              </a:rPr>
              <a:t>3
</a:t>
            </a:r>
            <a:r>
              <a:rPr lang="en-US" sz="800">
                <a:solidFill>
                  <a:srgbClr val="6B7280"/>
                </a:solidFill>
              </a:rPr>
              <a:t>Velocity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7589520" y="3063240"/>
            <a:ext cx="3291840" cy="594360"/>
          </a:xfrm>
          <a:prstGeom prst="rect">
            <a:avLst/>
          </a:prstGeom>
          <a:solidFill>
            <a:srgbClr val="E8F0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2668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3C2C"/>
                </a:solidFill>
              </a:rPr>
              <a:t>56
</a:t>
            </a:r>
            <a:r>
              <a:rPr lang="en-US" sz="800">
                <a:solidFill>
                  <a:srgbClr val="6B7280"/>
                </a:solidFill>
              </a:rPr>
              <a:t>Features no Backlog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33C2C"/>
                </a:solidFill>
              </a:rPr>
              <a:t>VISÃO POR ÁREA — FEATURES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1828800" y="4160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23" name="Text 21"/>
          <p:cNvSpPr/>
          <p:nvPr/>
        </p:nvSpPr>
        <p:spPr>
          <a:xfrm>
            <a:off x="1938528" y="42336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827"/>
                </a:solidFill>
              </a:rPr>
              <a:t>Contábil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3657600" y="4251960"/>
            <a:ext cx="804672" cy="17373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 sz="2800"/>
          </a:p>
        </p:txBody>
      </p:sp>
      <p:sp>
        <p:nvSpPr>
          <p:cNvPr id="25" name="Text 23"/>
          <p:cNvSpPr/>
          <p:nvPr/>
        </p:nvSpPr>
        <p:spPr>
          <a:xfrm>
            <a:off x="3657600" y="4251960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29 features</a:t>
            </a:r>
            <a:endParaRPr lang="en-US" sz="900"/>
          </a:p>
        </p:txBody>
      </p:sp>
      <p:graphicFrame>
        <p:nvGraphicFramePr>
          <p:cNvPr id="26" name="Chart 0"/>
          <p:cNvGraphicFramePr/>
          <p:nvPr/>
        </p:nvGraphicFramePr>
        <p:xfrm>
          <a:off x="1965960" y="4544568"/>
          <a:ext cx="8229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1965960" y="47091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DC2626"/>
                </a:solidFill>
              </a:rPr>
              <a:t>14%</a:t>
            </a:r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965960" y="4972507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REAL</a:t>
            </a:r>
            <a:endParaRPr lang="en-US" sz="700"/>
          </a:p>
        </p:txBody>
      </p:sp>
      <p:sp>
        <p:nvSpPr>
          <p:cNvPr id="29" name="Text 26"/>
          <p:cNvSpPr/>
          <p:nvPr/>
        </p:nvSpPr>
        <p:spPr>
          <a:xfrm>
            <a:off x="2971800" y="45994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Entregues</a:t>
            </a:r>
            <a:endParaRPr lang="en-US" sz="1000"/>
          </a:p>
        </p:txBody>
      </p:sp>
      <p:sp>
        <p:nvSpPr>
          <p:cNvPr id="30" name="Text 27"/>
          <p:cNvSpPr/>
          <p:nvPr/>
        </p:nvSpPr>
        <p:spPr>
          <a:xfrm>
            <a:off x="4023360" y="45994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4</a:t>
            </a:r>
            <a:endParaRPr lang="en-US" sz="1050"/>
          </a:p>
        </p:txBody>
      </p:sp>
      <p:sp>
        <p:nvSpPr>
          <p:cNvPr id="31" name="Text 28"/>
          <p:cNvSpPr/>
          <p:nvPr/>
        </p:nvSpPr>
        <p:spPr>
          <a:xfrm>
            <a:off x="2971800" y="4846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Em andamento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4023360" y="4846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8</a:t>
            </a:r>
            <a:endParaRPr lang="en-US" sz="1050"/>
          </a:p>
        </p:txBody>
      </p:sp>
      <p:sp>
        <p:nvSpPr>
          <p:cNvPr id="33" name="Text 30"/>
          <p:cNvSpPr/>
          <p:nvPr/>
        </p:nvSpPr>
        <p:spPr>
          <a:xfrm>
            <a:off x="2971800" y="50932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Atrasadas</a:t>
            </a:r>
            <a:endParaRPr lang="en-US" sz="1000"/>
          </a:p>
        </p:txBody>
      </p:sp>
      <p:sp>
        <p:nvSpPr>
          <p:cNvPr id="34" name="Text 31"/>
          <p:cNvSpPr/>
          <p:nvPr/>
        </p:nvSpPr>
        <p:spPr>
          <a:xfrm>
            <a:off x="4023360" y="50932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4</a:t>
            </a:r>
            <a:endParaRPr lang="en-US" sz="1050"/>
          </a:p>
        </p:txBody>
      </p:sp>
      <p:sp>
        <p:nvSpPr>
          <p:cNvPr id="35" name="Text 32"/>
          <p:cNvSpPr/>
          <p:nvPr/>
        </p:nvSpPr>
        <p:spPr>
          <a:xfrm>
            <a:off x="2971800" y="53400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Total features</a:t>
            </a:r>
            <a:endParaRPr lang="en-US" sz="1000"/>
          </a:p>
        </p:txBody>
      </p:sp>
      <p:sp>
        <p:nvSpPr>
          <p:cNvPr id="36" name="Text 33"/>
          <p:cNvSpPr/>
          <p:nvPr/>
        </p:nvSpPr>
        <p:spPr>
          <a:xfrm>
            <a:off x="402336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29</a:t>
            </a:r>
            <a:endParaRPr lang="en-US" sz="1050"/>
          </a:p>
        </p:txBody>
      </p:sp>
      <p:sp>
        <p:nvSpPr>
          <p:cNvPr id="37" name="Shape 34"/>
          <p:cNvSpPr/>
          <p:nvPr/>
        </p:nvSpPr>
        <p:spPr>
          <a:xfrm>
            <a:off x="1920240" y="594360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38" name="Text 35"/>
          <p:cNvSpPr/>
          <p:nvPr/>
        </p:nvSpPr>
        <p:spPr>
          <a:xfrm>
            <a:off x="1938528" y="5989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Ideal: 19%</a:t>
            </a:r>
            <a:endParaRPr lang="en-US" sz="1000"/>
          </a:p>
        </p:txBody>
      </p:sp>
      <p:sp>
        <p:nvSpPr>
          <p:cNvPr id="39" name="Text 36"/>
          <p:cNvSpPr/>
          <p:nvPr/>
        </p:nvSpPr>
        <p:spPr>
          <a:xfrm>
            <a:off x="3200400" y="5989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2C55E"/>
                </a:solidFill>
              </a:rPr>
              <a:t>-5pp</a:t>
            </a:r>
            <a:endParaRPr lang="en-US" sz="1100"/>
          </a:p>
        </p:txBody>
      </p:sp>
      <p:sp>
        <p:nvSpPr>
          <p:cNvPr id="40" name="Shape 37"/>
          <p:cNvSpPr/>
          <p:nvPr/>
        </p:nvSpPr>
        <p:spPr>
          <a:xfrm>
            <a:off x="4709160" y="4160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41" name="Text 38"/>
          <p:cNvSpPr/>
          <p:nvPr/>
        </p:nvSpPr>
        <p:spPr>
          <a:xfrm>
            <a:off x="4818888" y="42336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827"/>
                </a:solidFill>
              </a:rPr>
              <a:t>Folha</a:t>
            </a:r>
            <a:endParaRPr lang="en-US" sz="1200"/>
          </a:p>
        </p:txBody>
      </p:sp>
      <p:sp>
        <p:nvSpPr>
          <p:cNvPr id="42" name="Shape 39"/>
          <p:cNvSpPr/>
          <p:nvPr/>
        </p:nvSpPr>
        <p:spPr>
          <a:xfrm>
            <a:off x="6537960" y="4251960"/>
            <a:ext cx="804672" cy="17373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 sz="2800"/>
          </a:p>
        </p:txBody>
      </p:sp>
      <p:sp>
        <p:nvSpPr>
          <p:cNvPr id="43" name="Text 40"/>
          <p:cNvSpPr/>
          <p:nvPr/>
        </p:nvSpPr>
        <p:spPr>
          <a:xfrm>
            <a:off x="6537960" y="4251960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16 features</a:t>
            </a:r>
            <a:endParaRPr lang="en-US" sz="900"/>
          </a:p>
        </p:txBody>
      </p:sp>
      <p:graphicFrame>
        <p:nvGraphicFramePr>
          <p:cNvPr id="44" name="Chart 1"/>
          <p:cNvGraphicFramePr/>
          <p:nvPr/>
        </p:nvGraphicFramePr>
        <p:xfrm>
          <a:off x="4846320" y="4544568"/>
          <a:ext cx="8229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/>
          <p:nvPr/>
        </p:nvSpPr>
        <p:spPr>
          <a:xfrm>
            <a:off x="4846320" y="47091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DC2626"/>
                </a:solidFill>
              </a:rPr>
              <a:t>0%</a:t>
            </a:r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846320" y="4972507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REAL</a:t>
            </a:r>
            <a:endParaRPr lang="en-US" sz="700"/>
          </a:p>
        </p:txBody>
      </p:sp>
      <p:sp>
        <p:nvSpPr>
          <p:cNvPr id="47" name="Text 43"/>
          <p:cNvSpPr/>
          <p:nvPr/>
        </p:nvSpPr>
        <p:spPr>
          <a:xfrm>
            <a:off x="5852160" y="45994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Entregues</a:t>
            </a:r>
            <a:endParaRPr lang="en-US" sz="1000"/>
          </a:p>
        </p:txBody>
      </p:sp>
      <p:sp>
        <p:nvSpPr>
          <p:cNvPr id="48" name="Text 44"/>
          <p:cNvSpPr/>
          <p:nvPr/>
        </p:nvSpPr>
        <p:spPr>
          <a:xfrm>
            <a:off x="6903720" y="45994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0</a:t>
            </a:r>
            <a:endParaRPr lang="en-US" sz="1050"/>
          </a:p>
        </p:txBody>
      </p:sp>
      <p:sp>
        <p:nvSpPr>
          <p:cNvPr id="49" name="Text 45"/>
          <p:cNvSpPr/>
          <p:nvPr/>
        </p:nvSpPr>
        <p:spPr>
          <a:xfrm>
            <a:off x="5852160" y="4846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Em andamento</a:t>
            </a:r>
            <a:endParaRPr lang="en-US" sz="1000"/>
          </a:p>
        </p:txBody>
      </p:sp>
      <p:sp>
        <p:nvSpPr>
          <p:cNvPr id="50" name="Text 46"/>
          <p:cNvSpPr/>
          <p:nvPr/>
        </p:nvSpPr>
        <p:spPr>
          <a:xfrm>
            <a:off x="6903720" y="4846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9</a:t>
            </a:r>
            <a:endParaRPr lang="en-US" sz="1050"/>
          </a:p>
        </p:txBody>
      </p:sp>
      <p:sp>
        <p:nvSpPr>
          <p:cNvPr id="51" name="Text 47"/>
          <p:cNvSpPr/>
          <p:nvPr/>
        </p:nvSpPr>
        <p:spPr>
          <a:xfrm>
            <a:off x="5852160" y="50932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Atrasadas</a:t>
            </a:r>
            <a:endParaRPr lang="en-US" sz="1000"/>
          </a:p>
        </p:txBody>
      </p:sp>
      <p:sp>
        <p:nvSpPr>
          <p:cNvPr id="52" name="Text 48"/>
          <p:cNvSpPr/>
          <p:nvPr/>
        </p:nvSpPr>
        <p:spPr>
          <a:xfrm>
            <a:off x="6903720" y="50932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3</a:t>
            </a:r>
            <a:endParaRPr lang="en-US" sz="1050"/>
          </a:p>
        </p:txBody>
      </p:sp>
      <p:sp>
        <p:nvSpPr>
          <p:cNvPr id="53" name="Text 49"/>
          <p:cNvSpPr/>
          <p:nvPr/>
        </p:nvSpPr>
        <p:spPr>
          <a:xfrm>
            <a:off x="5852160" y="53400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Total features</a:t>
            </a:r>
            <a:endParaRPr lang="en-US" sz="1000"/>
          </a:p>
        </p:txBody>
      </p:sp>
      <p:sp>
        <p:nvSpPr>
          <p:cNvPr id="54" name="Text 50"/>
          <p:cNvSpPr/>
          <p:nvPr/>
        </p:nvSpPr>
        <p:spPr>
          <a:xfrm>
            <a:off x="690372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16</a:t>
            </a:r>
            <a:endParaRPr lang="en-US" sz="1050"/>
          </a:p>
        </p:txBody>
      </p:sp>
      <p:sp>
        <p:nvSpPr>
          <p:cNvPr id="55" name="Shape 51"/>
          <p:cNvSpPr/>
          <p:nvPr/>
        </p:nvSpPr>
        <p:spPr>
          <a:xfrm>
            <a:off x="4800600" y="594360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56" name="Text 52"/>
          <p:cNvSpPr/>
          <p:nvPr/>
        </p:nvSpPr>
        <p:spPr>
          <a:xfrm>
            <a:off x="4818888" y="5989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Ideal: 19%</a:t>
            </a:r>
            <a:endParaRPr lang="en-US" sz="1000"/>
          </a:p>
        </p:txBody>
      </p:sp>
      <p:sp>
        <p:nvSpPr>
          <p:cNvPr id="57" name="Text 53"/>
          <p:cNvSpPr/>
          <p:nvPr/>
        </p:nvSpPr>
        <p:spPr>
          <a:xfrm>
            <a:off x="6080760" y="5989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EF4444"/>
                </a:solidFill>
              </a:rPr>
              <a:t>-19pp</a:t>
            </a:r>
            <a:endParaRPr lang="en-US" sz="1100"/>
          </a:p>
        </p:txBody>
      </p:sp>
      <p:sp>
        <p:nvSpPr>
          <p:cNvPr id="58" name="Shape 54"/>
          <p:cNvSpPr/>
          <p:nvPr/>
        </p:nvSpPr>
        <p:spPr>
          <a:xfrm>
            <a:off x="7589520" y="4160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59" name="Text 55"/>
          <p:cNvSpPr/>
          <p:nvPr/>
        </p:nvSpPr>
        <p:spPr>
          <a:xfrm>
            <a:off x="7699248" y="42336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827"/>
                </a:solidFill>
              </a:rPr>
              <a:t>Plataforma </a:t>
            </a:r>
            <a:endParaRPr lang="en-US" sz="1200"/>
          </a:p>
        </p:txBody>
      </p:sp>
      <p:sp>
        <p:nvSpPr>
          <p:cNvPr id="60" name="Shape 56"/>
          <p:cNvSpPr/>
          <p:nvPr/>
        </p:nvSpPr>
        <p:spPr>
          <a:xfrm>
            <a:off x="9418320" y="4251960"/>
            <a:ext cx="804672" cy="17373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 sz="2800"/>
          </a:p>
        </p:txBody>
      </p:sp>
      <p:sp>
        <p:nvSpPr>
          <p:cNvPr id="61" name="Text 57"/>
          <p:cNvSpPr/>
          <p:nvPr/>
        </p:nvSpPr>
        <p:spPr>
          <a:xfrm>
            <a:off x="9418320" y="4251960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33 features</a:t>
            </a:r>
            <a:endParaRPr lang="en-US" sz="900"/>
          </a:p>
        </p:txBody>
      </p:sp>
      <p:graphicFrame>
        <p:nvGraphicFramePr>
          <p:cNvPr id="62" name="Chart 2"/>
          <p:cNvGraphicFramePr/>
          <p:nvPr/>
        </p:nvGraphicFramePr>
        <p:xfrm>
          <a:off x="7726680" y="4544568"/>
          <a:ext cx="8229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 58"/>
          <p:cNvSpPr/>
          <p:nvPr/>
        </p:nvSpPr>
        <p:spPr>
          <a:xfrm>
            <a:off x="7726680" y="47091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DC2626"/>
                </a:solidFill>
              </a:rPr>
              <a:t>6%</a:t>
            </a:r>
            <a:endParaRPr lang="en-US"/>
          </a:p>
        </p:txBody>
      </p:sp>
      <p:sp>
        <p:nvSpPr>
          <p:cNvPr id="64" name="Text 59"/>
          <p:cNvSpPr/>
          <p:nvPr/>
        </p:nvSpPr>
        <p:spPr>
          <a:xfrm>
            <a:off x="7726680" y="4972507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REAL</a:t>
            </a:r>
            <a:endParaRPr lang="en-US" sz="700"/>
          </a:p>
        </p:txBody>
      </p:sp>
      <p:sp>
        <p:nvSpPr>
          <p:cNvPr id="65" name="Text 60"/>
          <p:cNvSpPr/>
          <p:nvPr/>
        </p:nvSpPr>
        <p:spPr>
          <a:xfrm>
            <a:off x="8732520" y="45994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Entregues</a:t>
            </a:r>
            <a:endParaRPr lang="en-US" sz="1000"/>
          </a:p>
        </p:txBody>
      </p:sp>
      <p:sp>
        <p:nvSpPr>
          <p:cNvPr id="66" name="Text 61"/>
          <p:cNvSpPr/>
          <p:nvPr/>
        </p:nvSpPr>
        <p:spPr>
          <a:xfrm>
            <a:off x="9784080" y="45994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2</a:t>
            </a:r>
            <a:endParaRPr lang="en-US" sz="1050"/>
          </a:p>
        </p:txBody>
      </p:sp>
      <p:sp>
        <p:nvSpPr>
          <p:cNvPr id="67" name="Text 62"/>
          <p:cNvSpPr/>
          <p:nvPr/>
        </p:nvSpPr>
        <p:spPr>
          <a:xfrm>
            <a:off x="8732520" y="4846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Em andamento</a:t>
            </a:r>
            <a:endParaRPr lang="en-US" sz="1000"/>
          </a:p>
        </p:txBody>
      </p:sp>
      <p:sp>
        <p:nvSpPr>
          <p:cNvPr id="68" name="Text 63"/>
          <p:cNvSpPr/>
          <p:nvPr/>
        </p:nvSpPr>
        <p:spPr>
          <a:xfrm>
            <a:off x="9784080" y="4846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17</a:t>
            </a:r>
            <a:endParaRPr lang="en-US" sz="1050"/>
          </a:p>
        </p:txBody>
      </p:sp>
      <p:sp>
        <p:nvSpPr>
          <p:cNvPr id="69" name="Text 64"/>
          <p:cNvSpPr/>
          <p:nvPr/>
        </p:nvSpPr>
        <p:spPr>
          <a:xfrm>
            <a:off x="8732520" y="50932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Atrasadas</a:t>
            </a:r>
            <a:endParaRPr lang="en-US" sz="1000"/>
          </a:p>
        </p:txBody>
      </p:sp>
      <p:sp>
        <p:nvSpPr>
          <p:cNvPr id="70" name="Text 65"/>
          <p:cNvSpPr/>
          <p:nvPr/>
        </p:nvSpPr>
        <p:spPr>
          <a:xfrm>
            <a:off x="9784080" y="5093208"/>
            <a:ext cx="41148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11</a:t>
            </a:r>
          </a:p>
        </p:txBody>
      </p:sp>
      <p:sp>
        <p:nvSpPr>
          <p:cNvPr id="71" name="Text 66"/>
          <p:cNvSpPr/>
          <p:nvPr/>
        </p:nvSpPr>
        <p:spPr>
          <a:xfrm>
            <a:off x="8732520" y="53400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Total features</a:t>
            </a:r>
            <a:endParaRPr lang="en-US" sz="1000"/>
          </a:p>
        </p:txBody>
      </p:sp>
      <p:sp>
        <p:nvSpPr>
          <p:cNvPr id="72" name="Text 67"/>
          <p:cNvSpPr/>
          <p:nvPr/>
        </p:nvSpPr>
        <p:spPr>
          <a:xfrm>
            <a:off x="9784080" y="53400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11827"/>
                </a:solidFill>
              </a:rPr>
              <a:t>33</a:t>
            </a:r>
            <a:endParaRPr lang="en-US" sz="1050"/>
          </a:p>
        </p:txBody>
      </p:sp>
      <p:sp>
        <p:nvSpPr>
          <p:cNvPr id="73" name="Shape 68"/>
          <p:cNvSpPr/>
          <p:nvPr/>
        </p:nvSpPr>
        <p:spPr>
          <a:xfrm>
            <a:off x="7680960" y="594360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74" name="Text 69"/>
          <p:cNvSpPr/>
          <p:nvPr/>
        </p:nvSpPr>
        <p:spPr>
          <a:xfrm>
            <a:off x="7699248" y="5989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Ideal: 19%</a:t>
            </a:r>
            <a:endParaRPr lang="en-US" sz="1000"/>
          </a:p>
        </p:txBody>
      </p:sp>
      <p:sp>
        <p:nvSpPr>
          <p:cNvPr id="75" name="Text 70"/>
          <p:cNvSpPr/>
          <p:nvPr/>
        </p:nvSpPr>
        <p:spPr>
          <a:xfrm>
            <a:off x="8961120" y="5989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59E0B"/>
                </a:solidFill>
              </a:rPr>
              <a:t>-13pp</a:t>
            </a:r>
            <a:endParaRPr lang="en-US" sz="1100"/>
          </a:p>
        </p:txBody>
      </p:sp>
      <p:sp>
        <p:nvSpPr>
          <p:cNvPr id="76" name="Text 71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Thomson Reuters · Delivery Follow-up · Confidencial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16287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33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</a:rPr>
              <a:t>DELIVERY FOLLOW-UP
</a:t>
            </a:r>
            <a:r>
              <a:rPr lang="en-US" sz="2000" b="1">
                <a:solidFill>
                  <a:srgbClr val="FFFFFF"/>
                </a:solidFill>
              </a:rPr>
              <a:t>3. </a:t>
            </a:r>
            <a:r>
              <a:rPr lang="pt-BR" sz="2000" b="1">
                <a:solidFill>
                  <a:srgbClr val="FFFFFF"/>
                </a:solidFill>
              </a:rPr>
              <a:t>Principais Avanços do Período</a:t>
            </a:r>
            <a:endParaRPr lang="pt-BR" sz="800"/>
          </a:p>
        </p:txBody>
      </p:sp>
      <p:sp>
        <p:nvSpPr>
          <p:cNvPr id="4" name="Text 2"/>
          <p:cNvSpPr/>
          <p:nvPr/>
        </p:nvSpPr>
        <p:spPr>
          <a:xfrm>
            <a:off x="457200" y="1257495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C55E"/>
                </a:solidFill>
              </a:rPr>
              <a:t>ENTREGAS CONCLUIDAS</a:t>
            </a:r>
            <a:endParaRPr lang="en-US" sz="9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492905"/>
              </p:ext>
            </p:extLst>
          </p:nvPr>
        </p:nvGraphicFramePr>
        <p:xfrm>
          <a:off x="457200" y="1538458"/>
          <a:ext cx="11247120" cy="960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Entrega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Plataforma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Possibilitar acesso às funcionalidades do Domínio Inova a partir do novo Domínio Contábil em nuvem em uma nova aba.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19/04/2026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Plataforma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Possibilitar acesso aos módulos do Onvio a partir do novo Domínio Contábil em nuvem.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19/04/2026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2573997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EM ANDAMENTO</a:t>
            </a:r>
            <a:endParaRPr lang="en-US" sz="90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003268"/>
              </p:ext>
            </p:extLst>
          </p:nvPr>
        </p:nvGraphicFramePr>
        <p:xfrm>
          <a:off x="457200" y="2845191"/>
          <a:ext cx="11247112" cy="3383280"/>
        </p:xfrm>
        <a:graphic>
          <a:graphicData uri="http://schemas.openxmlformats.org/drawingml/2006/table">
            <a:tbl>
              <a:tblPr/>
              <a:tblGrid>
                <a:gridCol w="1418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8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8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Entrega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Previsto</a:t>
                      </a:r>
                      <a:endParaRPr lang="en-US" sz="8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8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111827"/>
                          </a:solidFill>
                          <a:latin typeface="Clario"/>
                        </a:rPr>
                        <a:t>[96743] Transferir automaticamente o valor de lucro ou prejuízo do período para o lucro ou prejuízo acumulado e compensar lucro e prejuízo após o zeramento.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/>
                        <a:t>95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92</a:t>
                      </a:r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26882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111827"/>
                          </a:solidFill>
                        </a:rPr>
                        <a:t>[97437] Compensar automaticamente o lucro e prejuízo entre matriz e filiais.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/>
                        <a:t>30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30</a:t>
                      </a:r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/>
                    </a:p>
                  </a:txBody>
                  <a:tcPr anchor="ctr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1856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[97524] Gerar DLPA para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matriz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e filial.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53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Atenção</a:t>
                      </a:r>
                      <a:endParaRPr lang="en-US" sz="8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[97336] Gerar a DLPA no SPED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Contábil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65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[97302]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Permitir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que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as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configurações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dos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relatórios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parametrização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e as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assinaturas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salvas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,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sejam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aplicadas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ao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DLPA.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74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[97280]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Criar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estrutura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e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relatório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Demonstração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de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Lucros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ou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Prejuízos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Acumulados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- DLPA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96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[97341]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Permitir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que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a DLPA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seja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gerada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e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enviada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pelas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Rotinas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programadas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34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[97340]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Criar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permissões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no menu DLPA.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70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83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07/05/2026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Atenção</a:t>
                      </a:r>
                      <a:endParaRPr lang="pt-BR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Contabilidade</a:t>
                      </a:r>
                      <a:endParaRPr lang="en-US" sz="900" err="1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[98297]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Criar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estrutura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e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relatório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da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Demonstração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das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Mutações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do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Patrimônio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111827"/>
                          </a:solidFill>
                        </a:rPr>
                        <a:t>Líquido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 - DMPL.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/>
                        <a:t>47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47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06/04/2026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800" b="1" i="0" u="none" strike="noStrike" noProof="0">
                          <a:solidFill>
                            <a:srgbClr val="FFFFFF"/>
                          </a:solidFill>
                          <a:latin typeface="Clario"/>
                        </a:rPr>
                        <a:t>On Track</a:t>
                      </a:r>
                      <a:endParaRPr lang="pt-BR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Thomson Reuters · Delivery Follow-up · Confidencial</a:t>
            </a:r>
            <a:endParaRPr lang="en-US"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3EBC-A8D5-98BF-7447-7D0AF1CEB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1974EA-DA6F-50F1-ECD2-22A5DB609AD4}"/>
              </a:ext>
            </a:extLst>
          </p:cNvPr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33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C462B9-8104-023D-4870-FBAA0AADD943}"/>
              </a:ext>
            </a:extLst>
          </p:cNvPr>
          <p:cNvSpPr/>
          <p:nvPr/>
        </p:nvSpPr>
        <p:spPr>
          <a:xfrm>
            <a:off x="457200" y="137160"/>
            <a:ext cx="109728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</a:rPr>
              <a:t>DELIVERY FOLLOW-UP
</a:t>
            </a:r>
            <a:r>
              <a:rPr lang="en-US" sz="2000" b="1">
                <a:solidFill>
                  <a:srgbClr val="FFFFFF"/>
                </a:solidFill>
              </a:rPr>
              <a:t>3. </a:t>
            </a:r>
            <a:r>
              <a:rPr lang="en-US" sz="2000" b="1" err="1">
                <a:solidFill>
                  <a:srgbClr val="FFFFFF"/>
                </a:solidFill>
              </a:rPr>
              <a:t>Principais</a:t>
            </a:r>
            <a:r>
              <a:rPr lang="en-US" sz="2000" b="1">
                <a:solidFill>
                  <a:srgbClr val="FFFFFF"/>
                </a:solidFill>
              </a:rPr>
              <a:t> </a:t>
            </a:r>
            <a:r>
              <a:rPr lang="en-US" sz="2000" b="1" err="1">
                <a:solidFill>
                  <a:srgbClr val="FFFFFF"/>
                </a:solidFill>
              </a:rPr>
              <a:t>Avanços</a:t>
            </a:r>
            <a:r>
              <a:rPr lang="en-US" sz="2000" b="1">
                <a:solidFill>
                  <a:srgbClr val="FFFFFF"/>
                </a:solidFill>
              </a:rPr>
              <a:t> do </a:t>
            </a:r>
            <a:r>
              <a:rPr lang="en-US" sz="2000" b="1" err="1">
                <a:solidFill>
                  <a:srgbClr val="FFFFFF"/>
                </a:solidFill>
              </a:rPr>
              <a:t>Periodo</a:t>
            </a:r>
            <a:endParaRPr lang="en-US" sz="800" err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985F58-7B8E-8B3A-2BBE-C9B0C6BB7157}"/>
              </a:ext>
            </a:extLst>
          </p:cNvPr>
          <p:cNvSpPr/>
          <p:nvPr/>
        </p:nvSpPr>
        <p:spPr>
          <a:xfrm>
            <a:off x="457200" y="124887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EM ANDAMENTO</a:t>
            </a:r>
            <a:endParaRPr lang="en-US" sz="900"/>
          </a:p>
        </p:txBody>
      </p:sp>
      <p:graphicFrame>
        <p:nvGraphicFramePr>
          <p:cNvPr id="11" name="Table 1">
            <a:extLst>
              <a:ext uri="{FF2B5EF4-FFF2-40B4-BE49-F238E27FC236}">
                <a16:creationId xmlns:a16="http://schemas.microsoft.com/office/drawing/2014/main" id="{09468562-BDF8-2B4A-7ECF-EF67C7C9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4267"/>
              </p:ext>
            </p:extLst>
          </p:nvPr>
        </p:nvGraphicFramePr>
        <p:xfrm>
          <a:off x="457200" y="1568918"/>
          <a:ext cx="11247120" cy="2148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Entrega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Previsto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 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[98154] Criar rotina para a transferência de contratos de colaboradores entre empresas​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100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90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111827"/>
                          </a:solidFill>
                          <a:latin typeface="Clario"/>
                        </a:rPr>
                        <a:t>05/05/2026</a:t>
                      </a:r>
                      <a:endParaRPr lang="en-US" sz="900" b="0" i="0" u="none" strike="noStrike" noProof="0">
                        <a:solidFill>
                          <a:srgbClr val="000000"/>
                        </a:solidFill>
                        <a:latin typeface="Clario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Critico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[98298] Criar rotina para cálculo da folha complementar e rescisão complementar, e os envios ao eSocial.​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100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60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111827"/>
                          </a:solidFill>
                          <a:latin typeface="Clario"/>
                        </a:rPr>
                        <a:t>19/05/2026</a:t>
                      </a:r>
                      <a:endParaRPr lang="en-US" sz="900" b="0" i="0" u="none" strike="noStrike" noProof="0">
                        <a:solidFill>
                          <a:srgbClr val="000000"/>
                        </a:solidFill>
                        <a:latin typeface="Clario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Critico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[100235] Criar a opção de cálculo de férias coletivas na central de férias​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100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70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19/05/2026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Critico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[100235] Adicionar novos vínculos empregatícios e incluir a modalidade de contrato no cadastro de contrato de empregado.​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60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19/05/2026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[100896] Implementar o relatório de extrato mensal na central de conferência​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80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19/05/2026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4">
            <a:extLst>
              <a:ext uri="{FF2B5EF4-FFF2-40B4-BE49-F238E27FC236}">
                <a16:creationId xmlns:a16="http://schemas.microsoft.com/office/drawing/2014/main" id="{046B7C5F-EC1F-7836-8485-73FEBEFADAFA}"/>
              </a:ext>
            </a:extLst>
          </p:cNvPr>
          <p:cNvSpPr/>
          <p:nvPr/>
        </p:nvSpPr>
        <p:spPr>
          <a:xfrm>
            <a:off x="457200" y="381401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F4444"/>
                </a:solidFill>
              </a:rPr>
              <a:t>ITENS EM ATENCAO</a:t>
            </a:r>
            <a:endParaRPr lang="en-US" sz="900"/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8FF51E72-8634-917D-AB13-69F6DD26A225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34050"/>
          <a:ext cx="11247120" cy="1005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Motivo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Dias Atraso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Plataforma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Projeto Certificados 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Mudança de definição e desafios com nova Tecnologia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Folha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Convenção Sindicato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Em fase de sustentação durante desenvolvimento Domínio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>
            <a:extLst>
              <a:ext uri="{FF2B5EF4-FFF2-40B4-BE49-F238E27FC236}">
                <a16:creationId xmlns:a16="http://schemas.microsoft.com/office/drawing/2014/main" id="{02449E97-F8D5-5F69-6B1A-B0081D9DD062}"/>
              </a:ext>
            </a:extLst>
          </p:cNvPr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</a:rPr>
              <a:t>Thomson Reuters · Delivery Follow-up · Confidencial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359063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5B714-4423-0C4C-3EA3-573BA0F77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FBB9770C-7966-08A4-6215-F21C9A160EE5}"/>
              </a:ext>
            </a:extLst>
          </p:cNvPr>
          <p:cNvSpPr/>
          <p:nvPr/>
        </p:nvSpPr>
        <p:spPr>
          <a:xfrm>
            <a:off x="0" y="-16630"/>
            <a:ext cx="12192000" cy="583558"/>
          </a:xfrm>
          <a:prstGeom prst="rect">
            <a:avLst/>
          </a:prstGeom>
          <a:solidFill>
            <a:srgbClr val="123A2C"/>
          </a:solidFill>
          <a:ln w="12700">
            <a:solidFill>
              <a:srgbClr val="123A2C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3A3796B-A4E7-C035-E7DA-3DE8FE5A986D}"/>
              </a:ext>
            </a:extLst>
          </p:cNvPr>
          <p:cNvSpPr/>
          <p:nvPr/>
        </p:nvSpPr>
        <p:spPr>
          <a:xfrm>
            <a:off x="41148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Plataforma - Certificados</a:t>
            </a:r>
            <a:endParaRPr lang="pt-BR" sz="1800" noProof="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8AA6966-C298-87CF-4585-950F500A47CC}"/>
              </a:ext>
            </a:extLst>
          </p:cNvPr>
          <p:cNvSpPr/>
          <p:nvPr/>
        </p:nvSpPr>
        <p:spPr>
          <a:xfrm>
            <a:off x="9098280" y="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err="1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Abr</a:t>
            </a:r>
            <a:r>
              <a:rPr lang="pt-BR" sz="1000" noProof="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/2026</a:t>
            </a:r>
            <a:endParaRPr lang="pt-BR" sz="1000" noProof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5AC9337-E89A-D4F5-56C3-1452A5EF918B}"/>
              </a:ext>
            </a:extLst>
          </p:cNvPr>
          <p:cNvSpPr/>
          <p:nvPr/>
        </p:nvSpPr>
        <p:spPr>
          <a:xfrm>
            <a:off x="4023360" y="11277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pt-BR" sz="1400" noProof="0">
              <a:solidFill>
                <a:prstClr val="black"/>
              </a:solidFill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99AB0A6F-D8F1-396A-B243-1BD045F1CB85}"/>
              </a:ext>
            </a:extLst>
          </p:cNvPr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23A2C"/>
          </a:solidFill>
          <a:ln w="12700">
            <a:solidFill>
              <a:srgbClr val="123A2C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27149E41-F814-B2F0-37C3-27331EFAEB82}"/>
              </a:ext>
            </a:extLst>
          </p:cNvPr>
          <p:cNvSpPr/>
          <p:nvPr/>
        </p:nvSpPr>
        <p:spPr>
          <a:xfrm>
            <a:off x="365760" y="660196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ONVIO BR  ·  Delivery Follow-up  ·  Confidencial</a:t>
            </a:r>
            <a:endParaRPr lang="pt-BR" sz="800" noProof="0"/>
          </a:p>
        </p:txBody>
      </p:sp>
      <p:pic>
        <p:nvPicPr>
          <p:cNvPr id="2" name="Picture 1" descr="A screen shot of a chart&#10;&#10;AI-generated content may be incorrect.">
            <a:extLst>
              <a:ext uri="{FF2B5EF4-FFF2-40B4-BE49-F238E27FC236}">
                <a16:creationId xmlns:a16="http://schemas.microsoft.com/office/drawing/2014/main" id="{9255E702-E73F-8CB4-9E74-CF806873F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19" y="603250"/>
            <a:ext cx="9467826" cy="595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20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A2658-AA34-E645-D6D0-076AE1E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160699-B518-43E0-5AAB-5F91EE5F9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10</a:t>
            </a:fld>
            <a:endParaRPr lang="en-US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7F8C587-70FC-B6F7-408F-E7FEE0D7A5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C4E20813-18C8-A7F4-3FF7-F6503ECD1B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34520"/>
            <a:ext cx="5683250" cy="28623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ONVIO BR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C4225AEB-4B6F-8EE6-E41A-E8FF13E2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69" y="639352"/>
            <a:ext cx="11150600" cy="646331"/>
          </a:xfrm>
        </p:spPr>
        <p:txBody>
          <a:bodyPr/>
          <a:lstStyle/>
          <a:p>
            <a:r>
              <a:rPr lang="pt-BR"/>
              <a:t>SNYK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E05D7C-5D18-3D57-215B-EB411828F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4" y="2514169"/>
            <a:ext cx="11422069" cy="3439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88BA67-7DBE-AD09-EA6D-C05317E6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86" y="1554480"/>
            <a:ext cx="6172317" cy="9596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8547F5-6B9D-2676-E305-99B6F0204971}"/>
              </a:ext>
            </a:extLst>
          </p:cNvPr>
          <p:cNvSpPr txBox="1"/>
          <p:nvPr/>
        </p:nvSpPr>
        <p:spPr>
          <a:xfrm>
            <a:off x="6278178" y="2192355"/>
            <a:ext cx="512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-34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73DB7-D5B9-44F8-A3F4-79ADDE2E21C3}"/>
              </a:ext>
            </a:extLst>
          </p:cNvPr>
          <p:cNvSpPr txBox="1"/>
          <p:nvPr/>
        </p:nvSpPr>
        <p:spPr>
          <a:xfrm>
            <a:off x="7539148" y="2192354"/>
            <a:ext cx="512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-29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7DD6A-3581-99A2-57CE-C0A0709D6C1F}"/>
              </a:ext>
            </a:extLst>
          </p:cNvPr>
          <p:cNvSpPr txBox="1"/>
          <p:nvPr/>
        </p:nvSpPr>
        <p:spPr>
          <a:xfrm>
            <a:off x="8658440" y="2206392"/>
            <a:ext cx="582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-537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2BF4E3-F63F-E2BA-A90E-0EF1BFDB22D2}"/>
              </a:ext>
            </a:extLst>
          </p:cNvPr>
          <p:cNvSpPr txBox="1"/>
          <p:nvPr/>
        </p:nvSpPr>
        <p:spPr>
          <a:xfrm>
            <a:off x="9919410" y="2192353"/>
            <a:ext cx="676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+310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AA206-C3B4-A5C7-8AF6-E7CE82745E79}"/>
              </a:ext>
            </a:extLst>
          </p:cNvPr>
          <p:cNvSpPr txBox="1"/>
          <p:nvPr/>
        </p:nvSpPr>
        <p:spPr>
          <a:xfrm>
            <a:off x="11083940" y="2192353"/>
            <a:ext cx="676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-152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437A0-66B6-F457-94DD-0F930309C963}"/>
              </a:ext>
            </a:extLst>
          </p:cNvPr>
          <p:cNvSpPr txBox="1"/>
          <p:nvPr/>
        </p:nvSpPr>
        <p:spPr>
          <a:xfrm>
            <a:off x="431797" y="1336247"/>
            <a:ext cx="2637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/>
              <a:t>Plano Crítica e High:</a:t>
            </a:r>
            <a:br>
              <a:rPr lang="pt-BR" sz="1400"/>
            </a:b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- Sprint S09: 366 </a:t>
            </a:r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</a:rPr>
              <a:t>(plataforma)</a:t>
            </a:r>
            <a:b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- Sprint S10: 102 </a:t>
            </a:r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</a:rPr>
              <a:t>(plataforma)</a:t>
            </a:r>
          </a:p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- Sprint S11: 180 (demais áreas)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06AFE3-5BD0-6548-CD33-DD15B8DE8610}"/>
              </a:ext>
            </a:extLst>
          </p:cNvPr>
          <p:cNvSpPr txBox="1"/>
          <p:nvPr/>
        </p:nvSpPr>
        <p:spPr>
          <a:xfrm>
            <a:off x="2279611" y="5613402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/>
              <a:t>+27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0E262-4E08-73B2-DAC9-B1BD828EB2F3}"/>
              </a:ext>
            </a:extLst>
          </p:cNvPr>
          <p:cNvSpPr txBox="1"/>
          <p:nvPr/>
        </p:nvSpPr>
        <p:spPr>
          <a:xfrm>
            <a:off x="2852394" y="5599947"/>
            <a:ext cx="2824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/>
              <a:t>+1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B63565-1107-7FD4-77ED-21288AEF12EA}"/>
              </a:ext>
            </a:extLst>
          </p:cNvPr>
          <p:cNvSpPr txBox="1"/>
          <p:nvPr/>
        </p:nvSpPr>
        <p:spPr>
          <a:xfrm>
            <a:off x="5587886" y="5609521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/>
              <a:t>-29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6AEBC5-2FDE-B585-25A3-C7CA6AAB8F6E}"/>
              </a:ext>
            </a:extLst>
          </p:cNvPr>
          <p:cNvSpPr txBox="1"/>
          <p:nvPr/>
        </p:nvSpPr>
        <p:spPr>
          <a:xfrm>
            <a:off x="11270963" y="5649978"/>
            <a:ext cx="582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solidFill>
                  <a:schemeClr val="tx1">
                    <a:lumMod val="50000"/>
                    <a:lumOff val="50000"/>
                  </a:schemeClr>
                </a:solidFill>
              </a:rPr>
              <a:t>-537</a:t>
            </a:r>
          </a:p>
        </p:txBody>
      </p:sp>
    </p:spTree>
    <p:extLst>
      <p:ext uri="{BB962C8B-B14F-4D97-AF65-F5344CB8AC3E}">
        <p14:creationId xmlns:p14="http://schemas.microsoft.com/office/powerpoint/2010/main" val="41801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AFB8D6-8614-FB7C-46E8-6FEF2941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D0CAC1-54BA-CC77-85C9-137078A1E1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11</a:t>
            </a:fld>
            <a:endParaRPr lang="en-US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9C7AE0D-B788-8373-A3E6-13B6507A3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3D2A001E-BA3D-3724-1815-B33E8876FF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34520"/>
            <a:ext cx="5683250" cy="28623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ONVIO BR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F9FAA35B-22F0-E072-EF4F-04345C49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69" y="639352"/>
            <a:ext cx="11150600" cy="646331"/>
          </a:xfrm>
        </p:spPr>
        <p:txBody>
          <a:bodyPr/>
          <a:lstStyle/>
          <a:p>
            <a:r>
              <a:rPr lang="pt-BR"/>
              <a:t>SNYK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D4A397-EA6E-493B-EB6C-FA95B051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5012"/>
            <a:ext cx="12192000" cy="3729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4FF538-81CC-1BC2-F5C0-70A02AAAC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830" y="1200431"/>
            <a:ext cx="7116168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0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1FC4-3723-19C3-32ED-E11D371B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7090-CFBE-1B06-2F02-DDF7CAD2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4" y="2164038"/>
            <a:ext cx="5597525" cy="2529923"/>
          </a:xfrm>
        </p:spPr>
        <p:txBody>
          <a:bodyPr/>
          <a:lstStyle/>
          <a:p>
            <a:r>
              <a:rPr lang="en-US" err="1"/>
              <a:t>Nível</a:t>
            </a:r>
            <a:r>
              <a:rPr lang="en-US"/>
              <a:t> de </a:t>
            </a:r>
            <a:r>
              <a:rPr lang="en-US" err="1"/>
              <a:t>Serviço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65D6-1C98-3C3E-D10F-A50E0CC6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11943C-1825-9CBF-FFA8-2AF38AC96B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ONVIO 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287383A-8BF6-961A-296A-DBAF96A746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BA8709-604C-579C-11AA-FEF9FEC59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z="1200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13</a:t>
            </a:fld>
            <a:endParaRPr lang="en-US" sz="120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67856B3-DC7D-A317-FD7C-AAD75A53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87955"/>
            <a:ext cx="11277600" cy="646331"/>
          </a:xfrm>
        </p:spPr>
        <p:txBody>
          <a:bodyPr/>
          <a:lstStyle/>
          <a:p>
            <a:r>
              <a:rPr lang="en-US"/>
              <a:t>TechOps</a:t>
            </a:r>
            <a:r>
              <a:rPr lang="en-US" sz="2800"/>
              <a:t> – Painel de Indicadores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EBFAFB-1564-CC75-C882-233A346CB76D}"/>
              </a:ext>
            </a:extLst>
          </p:cNvPr>
          <p:cNvSpPr txBox="1"/>
          <p:nvPr/>
        </p:nvSpPr>
        <p:spPr>
          <a:xfrm>
            <a:off x="459288" y="1638822"/>
            <a:ext cx="11271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/>
              <a:t>Disponibilidade: 99.987%</a:t>
            </a:r>
          </a:p>
          <a:p>
            <a:endParaRPr lang="pt-BR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EAF7EE-4669-6586-8BBE-905EE2C8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8" y="2156561"/>
            <a:ext cx="7160712" cy="40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4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78EC-F194-1789-1773-73702904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66ECF7-ABFC-06CE-7939-1258230AD7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ONVIO 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3A2D2BF-AD03-2B80-B65F-9B610AE1D9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200">
                <a:ea typeface="+mn-lt"/>
                <a:cs typeface="+mn-lt"/>
                <a:hlinkClick r:id="rId3"/>
              </a:rPr>
              <a:t>ONVIO BR - TechOps ITIL Dashboard | Platform Analytics | ServiceNow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A29C0F-8275-0DEE-D77A-218C67742E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z="1200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14</a:t>
            </a:fld>
            <a:endParaRPr lang="en-US" sz="120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111C7610-98DF-1F68-B6D0-F82F8A0D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87955"/>
            <a:ext cx="11277600" cy="646331"/>
          </a:xfrm>
        </p:spPr>
        <p:txBody>
          <a:bodyPr/>
          <a:lstStyle/>
          <a:p>
            <a:r>
              <a:rPr lang="en-US"/>
              <a:t>TechOps</a:t>
            </a:r>
            <a:r>
              <a:rPr lang="en-US" sz="2800"/>
              <a:t> – </a:t>
            </a:r>
            <a:r>
              <a:rPr lang="en-US" sz="2800" err="1"/>
              <a:t>Painel</a:t>
            </a:r>
            <a:r>
              <a:rPr lang="en-US" sz="2800"/>
              <a:t> de </a:t>
            </a:r>
            <a:r>
              <a:rPr lang="en-US" sz="2800" err="1"/>
              <a:t>Indicadores</a:t>
            </a:r>
            <a:endParaRPr lang="en-US" sz="2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14DC5E-9677-BEFF-81EA-4F77C3826978}"/>
              </a:ext>
            </a:extLst>
          </p:cNvPr>
          <p:cNvSpPr txBox="1"/>
          <p:nvPr/>
        </p:nvSpPr>
        <p:spPr>
          <a:xfrm>
            <a:off x="459288" y="1638822"/>
            <a:ext cx="11271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/>
              <a:t>Volumetria ServiceNow:</a:t>
            </a:r>
          </a:p>
          <a:p>
            <a:endParaRPr lang="pt-BR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D2510-AA14-EDB0-A4A0-F210456AB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64533"/>
            <a:ext cx="12192000" cy="37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C5936-4665-09DB-0454-11CDD511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7FF774-3D0A-C351-CAB9-60AAF11D05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ONVIO 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EE2226-566E-785D-06C5-66F892849D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605057-CC53-F883-D641-AA4FC66D82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z="1200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15</a:t>
            </a:fld>
            <a:endParaRPr lang="en-US" sz="120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00AE0B6-1705-E198-135C-01BB5C2E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87955"/>
            <a:ext cx="11277600" cy="646331"/>
          </a:xfrm>
        </p:spPr>
        <p:txBody>
          <a:bodyPr/>
          <a:lstStyle/>
          <a:p>
            <a:r>
              <a:rPr lang="en-US"/>
              <a:t>TechOps</a:t>
            </a:r>
            <a:r>
              <a:rPr lang="en-US" sz="2800"/>
              <a:t> – Golden Signals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0F7396-B387-400C-E408-46D0BF05ADC7}"/>
              </a:ext>
            </a:extLst>
          </p:cNvPr>
          <p:cNvSpPr txBox="1"/>
          <p:nvPr/>
        </p:nvSpPr>
        <p:spPr>
          <a:xfrm>
            <a:off x="459288" y="1638822"/>
            <a:ext cx="11271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/>
              <a:t>Latência | Erros | Saturação:</a:t>
            </a:r>
          </a:p>
          <a:p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B8DFD-4D0F-6169-15F2-2FF98A37D09F}"/>
              </a:ext>
            </a:extLst>
          </p:cNvPr>
          <p:cNvSpPr txBox="1"/>
          <p:nvPr/>
        </p:nvSpPr>
        <p:spPr>
          <a:xfrm>
            <a:off x="525665" y="5102678"/>
            <a:ext cx="256390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Mês anterior: 1148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7A809-6951-DA44-E22E-36D220547115}"/>
              </a:ext>
            </a:extLst>
          </p:cNvPr>
          <p:cNvSpPr txBox="1"/>
          <p:nvPr/>
        </p:nvSpPr>
        <p:spPr>
          <a:xfrm>
            <a:off x="5598980" y="5112704"/>
            <a:ext cx="256390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Mês anterior: 998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3DB703-37C4-4BBB-C2FB-A6ABB325A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" y="1347311"/>
            <a:ext cx="5425967" cy="194306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BE3035-C427-C984-C7AE-B4238D132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8" y="3423788"/>
            <a:ext cx="5425966" cy="1941701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7A5C3B-0BCA-178A-50AE-202CB8C5D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896" y="1206450"/>
            <a:ext cx="6240518" cy="2080273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F4B412-4AEA-15D0-2B70-D62C36A36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760" y="3419937"/>
            <a:ext cx="6240517" cy="259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56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C62CD7-74EB-A514-6F50-7BC73BC6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647129-9575-C6F7-BFDF-18E3A7DB22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ONVIO 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B30AD6D-ACC6-842A-646F-4BE957A30E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06C92E-F8B7-8374-CACA-9E96754F3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Clario" panose="020B0503030300000000" pitchFamily="34" charset="0"/>
              <a:buChar char="●"/>
            </a:pPr>
            <a:fld id="{D1A0B9A6-BF73-4DA8-BC34-AEA6A28AC37D}" type="slidenum">
              <a:rPr lang="en-US" sz="1200" smtClean="0"/>
              <a:pPr>
                <a:buClr>
                  <a:schemeClr val="tx2"/>
                </a:buClr>
                <a:buFont typeface="Clario" panose="020B0503030300000000" pitchFamily="34" charset="0"/>
                <a:buChar char="●"/>
              </a:pPr>
              <a:t>16</a:t>
            </a:fld>
            <a:endParaRPr lang="en-US" sz="120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36DB473F-6079-4B8F-008F-4253ED5B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87955"/>
            <a:ext cx="11277600" cy="646331"/>
          </a:xfrm>
        </p:spPr>
        <p:txBody>
          <a:bodyPr/>
          <a:lstStyle/>
          <a:p>
            <a:r>
              <a:rPr lang="en-US"/>
              <a:t>TechOps</a:t>
            </a:r>
            <a:r>
              <a:rPr lang="en-US" sz="2800"/>
              <a:t> – Golden Signals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6B7835-5A52-FED1-C380-3315008D60CA}"/>
              </a:ext>
            </a:extLst>
          </p:cNvPr>
          <p:cNvSpPr txBox="1"/>
          <p:nvPr/>
        </p:nvSpPr>
        <p:spPr>
          <a:xfrm>
            <a:off x="459288" y="1638822"/>
            <a:ext cx="11271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/>
              <a:t>Tráfego:</a:t>
            </a:r>
          </a:p>
          <a:p>
            <a:endParaRPr lang="pt-BR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2729CB-5E73-9C77-FEC1-4920FA74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290439"/>
            <a:ext cx="98298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31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0E40-46FC-5706-0784-6A4093B6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CDA8-E155-FA4F-DF0E-7F034EF1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4" y="2164038"/>
            <a:ext cx="5597525" cy="2529923"/>
          </a:xfrm>
        </p:spPr>
        <p:txBody>
          <a:bodyPr/>
          <a:lstStyle/>
          <a:p>
            <a:r>
              <a:rPr lang="pt-BR"/>
              <a:t>Iniciativas </a:t>
            </a:r>
            <a:r>
              <a:rPr lang="en-US"/>
              <a:t>de IA</a:t>
            </a:r>
          </a:p>
        </p:txBody>
      </p:sp>
    </p:spTree>
    <p:extLst>
      <p:ext uri="{BB962C8B-B14F-4D97-AF65-F5344CB8AC3E}">
        <p14:creationId xmlns:p14="http://schemas.microsoft.com/office/powerpoint/2010/main" val="2753033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DDF0-468E-016B-9AAE-AF28E368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5466D0C8-777E-1948-D7B4-2E78FF95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82"/>
            <a:ext cx="11277600" cy="535531"/>
          </a:xfrm>
        </p:spPr>
        <p:txBody>
          <a:bodyPr/>
          <a:lstStyle/>
          <a:p>
            <a:r>
              <a:rPr lang="en-US" sz="3200" err="1"/>
              <a:t>Etapas</a:t>
            </a:r>
            <a:r>
              <a:rPr lang="en-US" sz="3200"/>
              <a:t> da </a:t>
            </a:r>
            <a:r>
              <a:rPr lang="en-US" sz="3200" err="1"/>
              <a:t>Transformação</a:t>
            </a:r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3CAB5-50EB-4683-5C94-0FA429F79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4613"/>
            <a:ext cx="11159267" cy="52062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D13CE1-4276-A715-AEEB-62ADEDB911D8}"/>
              </a:ext>
            </a:extLst>
          </p:cNvPr>
          <p:cNvSpPr txBox="1"/>
          <p:nvPr/>
        </p:nvSpPr>
        <p:spPr>
          <a:xfrm>
            <a:off x="457200" y="6214986"/>
            <a:ext cx="7183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/>
              <a:t>Os tempo informados está usando como referência a implementação da alteração salarial em grupo.</a:t>
            </a:r>
          </a:p>
        </p:txBody>
      </p:sp>
    </p:spTree>
    <p:extLst>
      <p:ext uri="{BB962C8B-B14F-4D97-AF65-F5344CB8AC3E}">
        <p14:creationId xmlns:p14="http://schemas.microsoft.com/office/powerpoint/2010/main" val="405331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98AB-B12C-E789-D3F4-7F04BC12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EDC581FE-B9E8-60CD-37BD-B58A81FE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82"/>
            <a:ext cx="11277600" cy="535531"/>
          </a:xfrm>
        </p:spPr>
        <p:txBody>
          <a:bodyPr/>
          <a:lstStyle/>
          <a:p>
            <a:r>
              <a:rPr lang="en-US" sz="3200" err="1"/>
              <a:t>Desafio</a:t>
            </a:r>
            <a:r>
              <a:rPr lang="en-US" sz="3200"/>
              <a:t> do </a:t>
            </a:r>
            <a:r>
              <a:rPr lang="en-US" sz="3200" err="1"/>
              <a:t>momento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F9327-3CE7-26C7-B5D1-2348A0BE8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2104840"/>
            <a:ext cx="992643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36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A780-3C75-46C3-CB29-F5F1E9B1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C5086A7A-0153-AA61-92C4-E1EA3248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82"/>
            <a:ext cx="11277600" cy="535531"/>
          </a:xfrm>
        </p:spPr>
        <p:txBody>
          <a:bodyPr/>
          <a:lstStyle/>
          <a:p>
            <a:r>
              <a:rPr lang="en-US" sz="3200"/>
              <a:t>LALUR</a:t>
            </a:r>
            <a:endParaRPr lang="en-US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4B640-3A0D-6F88-79DA-71E2D2211798}"/>
              </a:ext>
            </a:extLst>
          </p:cNvPr>
          <p:cNvSpPr txBox="1"/>
          <p:nvPr/>
        </p:nvSpPr>
        <p:spPr>
          <a:xfrm>
            <a:off x="457200" y="1258431"/>
            <a:ext cx="61085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Extração</a:t>
            </a:r>
            <a:r>
              <a:rPr lang="en-US"/>
              <a:t> </a:t>
            </a:r>
            <a:r>
              <a:rPr lang="en-US" err="1"/>
              <a:t>Regras</a:t>
            </a:r>
            <a:r>
              <a:rPr lang="en-US"/>
              <a:t> de </a:t>
            </a:r>
            <a:r>
              <a:rPr lang="en-US" err="1"/>
              <a:t>Negócio</a:t>
            </a:r>
            <a:r>
              <a:rPr lang="en-US"/>
              <a:t> da </a:t>
            </a:r>
            <a:r>
              <a:rPr lang="en-US" err="1"/>
              <a:t>aplicação</a:t>
            </a:r>
            <a:r>
              <a:rPr lang="en-US"/>
              <a:t> </a:t>
            </a:r>
            <a:r>
              <a:rPr lang="en-US" err="1"/>
              <a:t>Legada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Removendo</a:t>
            </a:r>
            <a:r>
              <a:rPr lang="en-US"/>
              <a:t> </a:t>
            </a:r>
            <a:r>
              <a:rPr lang="en-US" err="1"/>
              <a:t>definições</a:t>
            </a:r>
            <a:r>
              <a:rPr lang="en-US"/>
              <a:t> de </a:t>
            </a:r>
            <a:r>
              <a:rPr lang="en-US" err="1"/>
              <a:t>usabilidade</a:t>
            </a:r>
            <a:r>
              <a:rPr lang="en-US"/>
              <a:t> </a:t>
            </a:r>
            <a:r>
              <a:rPr lang="en-US" err="1"/>
              <a:t>legada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Definindo</a:t>
            </a:r>
            <a:r>
              <a:rPr lang="en-US"/>
              <a:t> o novo design system do Onvio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Gerar </a:t>
            </a:r>
            <a:r>
              <a:rPr lang="en-US" err="1"/>
              <a:t>código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Gerar teste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Principal </a:t>
            </a:r>
            <a:r>
              <a:rPr lang="en-US" err="1"/>
              <a:t>desafio</a:t>
            </a:r>
            <a:r>
              <a:rPr lang="en-US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Mudança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forma de Trabalho </a:t>
            </a:r>
            <a:r>
              <a:rPr lang="en-US" err="1"/>
              <a:t>diferente</a:t>
            </a:r>
            <a:r>
              <a:rPr lang="en-US"/>
              <a:t> a </a:t>
            </a:r>
            <a:r>
              <a:rPr lang="en-US" err="1"/>
              <a:t>que</a:t>
            </a:r>
            <a:r>
              <a:rPr lang="en-US"/>
              <a:t> o time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habituado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1711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41C1-2D85-1E5C-FDE6-23CEB9A60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8816-C887-F1AF-923D-ACBFFDA0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4" y="2773435"/>
            <a:ext cx="5597525" cy="1311128"/>
          </a:xfrm>
        </p:spPr>
        <p:txBody>
          <a:bodyPr/>
          <a:lstStyle/>
          <a:p>
            <a:r>
              <a:rPr lang="pt-BR"/>
              <a:t>Financeiro</a:t>
            </a:r>
          </a:p>
        </p:txBody>
      </p:sp>
    </p:spTree>
    <p:extLst>
      <p:ext uri="{BB962C8B-B14F-4D97-AF65-F5344CB8AC3E}">
        <p14:creationId xmlns:p14="http://schemas.microsoft.com/office/powerpoint/2010/main" val="1927407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549F2-DB71-EB2E-6F9A-B18F02BB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2AC59158-3771-F5E3-3C9F-DEA3E4309D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34520"/>
            <a:ext cx="5683250" cy="28623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ONVIO BR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FEE873-1D48-1931-868E-5A603748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7224"/>
            <a:ext cx="12106492" cy="4754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E81008-E566-9B6F-C24C-FD2B7355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19678"/>
            <a:ext cx="3969010" cy="170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36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4D66-7983-8D22-BB86-ABD816FE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4717FFD-248C-D317-CFD1-D466CE9F83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34520"/>
            <a:ext cx="5683250" cy="286232"/>
          </a:xfrm>
        </p:spPr>
        <p:txBody>
          <a:bodyPr/>
          <a:lstStyle/>
          <a:p>
            <a:pPr marL="0" indent="0">
              <a:buNone/>
            </a:pPr>
            <a:r>
              <a:rPr lang="en-US" sz="1400" b="1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Rateio</a:t>
            </a: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custos 03/2026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F94BE-5FD1-B7EC-CA2C-8D2DF018D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50"/>
          <a:stretch>
            <a:fillRect/>
          </a:stretch>
        </p:blipFill>
        <p:spPr>
          <a:xfrm>
            <a:off x="228601" y="620752"/>
            <a:ext cx="10204704" cy="588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8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D08E-C3BF-A8F7-86AD-DD9C5762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BA04E49A-6C4E-A102-4366-5958A332E9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34520"/>
            <a:ext cx="5683250" cy="28623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ONVIO BR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F3B6E-8D6C-8AA0-15AB-C7D91C26C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3463"/>
            <a:ext cx="12192000" cy="19077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78DFF2-4429-BB12-0EFE-B94E3A13B7F9}"/>
              </a:ext>
            </a:extLst>
          </p:cNvPr>
          <p:cNvSpPr txBox="1"/>
          <p:nvPr/>
        </p:nvSpPr>
        <p:spPr>
          <a:xfrm>
            <a:off x="457200" y="3124760"/>
            <a:ext cx="1152236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Ações de curto prazo:</a:t>
            </a:r>
          </a:p>
          <a:p>
            <a:pPr marL="285750" indent="-285750">
              <a:buFontTx/>
              <a:buChar char="-"/>
            </a:pPr>
            <a:r>
              <a:rPr lang="pt-BR"/>
              <a:t>Reduzir </a:t>
            </a:r>
            <a:r>
              <a:rPr lang="pt-BR" err="1"/>
              <a:t>Run</a:t>
            </a:r>
            <a:r>
              <a:rPr lang="pt-BR"/>
              <a:t> </a:t>
            </a:r>
            <a:r>
              <a:rPr lang="pt-BR" err="1"/>
              <a:t>Sessions</a:t>
            </a:r>
            <a:r>
              <a:rPr lang="pt-BR"/>
              <a:t> do </a:t>
            </a:r>
            <a:r>
              <a:rPr lang="pt-BR" err="1"/>
              <a:t>Datadog</a:t>
            </a:r>
            <a:r>
              <a:rPr lang="pt-BR"/>
              <a:t>- Gilberto (05/</a:t>
            </a:r>
            <a:r>
              <a:rPr lang="pt-BR" err="1"/>
              <a:t>mai</a:t>
            </a:r>
            <a:r>
              <a:rPr lang="pt-BR"/>
              <a:t>)</a:t>
            </a:r>
          </a:p>
          <a:p>
            <a:pPr marL="742950" lvl="1" indent="-285750">
              <a:buFontTx/>
              <a:buChar char="-"/>
            </a:pPr>
            <a:r>
              <a:rPr lang="pt-BR" sz="1400"/>
              <a:t>Potencial redução: U$ ~3.5k </a:t>
            </a:r>
            <a:r>
              <a:rPr lang="pt-BR" sz="1200"/>
              <a:t>(90% do valor atual)</a:t>
            </a:r>
          </a:p>
          <a:p>
            <a:pPr marL="742950" lvl="1" indent="-285750">
              <a:buFontTx/>
              <a:buChar char="-"/>
            </a:pPr>
            <a:endParaRPr lang="pt-BR"/>
          </a:p>
          <a:p>
            <a:pPr marL="285750" indent="-285750">
              <a:buFontTx/>
              <a:buChar char="-"/>
            </a:pPr>
            <a:r>
              <a:rPr lang="pt-BR"/>
              <a:t>Reduzir ambiente cloud PRE-PROD nos horários fora de expediente – Marcio/Adriano (</a:t>
            </a:r>
            <a:r>
              <a:rPr lang="pt-BR" sz="1400"/>
              <a:t>em planejamento</a:t>
            </a:r>
            <a:r>
              <a:rPr lang="pt-BR"/>
              <a:t>)</a:t>
            </a:r>
          </a:p>
          <a:p>
            <a:pPr marL="742950" lvl="1" indent="-285750">
              <a:buFontTx/>
              <a:buChar char="-"/>
            </a:pPr>
            <a:r>
              <a:rPr lang="pt-BR" sz="1400"/>
              <a:t>Potencial redução: U$ ~20k </a:t>
            </a:r>
            <a:r>
              <a:rPr lang="pt-BR" sz="1200"/>
              <a:t>(40% do valor atual)</a:t>
            </a:r>
          </a:p>
          <a:p>
            <a:pPr marL="285750" indent="-285750">
              <a:buFontTx/>
              <a:buChar char="-"/>
            </a:pPr>
            <a:endParaRPr lang="pt-BR"/>
          </a:p>
          <a:p>
            <a:pPr marL="285750" indent="-285750">
              <a:buFontTx/>
              <a:buChar char="-"/>
            </a:pPr>
            <a:r>
              <a:rPr lang="pt-BR"/>
              <a:t>Desabilitar Ingestão de Logs nos serviços – Gilberto (30/</a:t>
            </a:r>
            <a:r>
              <a:rPr lang="pt-BR" err="1"/>
              <a:t>abr</a:t>
            </a:r>
            <a:r>
              <a:rPr lang="pt-BR"/>
              <a:t>)</a:t>
            </a:r>
          </a:p>
          <a:p>
            <a:pPr marL="742950" lvl="1" indent="-285750">
              <a:buFontTx/>
              <a:buChar char="-"/>
            </a:pPr>
            <a:r>
              <a:rPr lang="pt-BR" sz="1400"/>
              <a:t>Potencial redução: U$ ~4.6k </a:t>
            </a:r>
            <a:r>
              <a:rPr lang="pt-BR" sz="1200"/>
              <a:t>(50% do valor atual)</a:t>
            </a:r>
          </a:p>
          <a:p>
            <a:pPr marL="285750" indent="-285750">
              <a:buFontTx/>
              <a:buChar char="-"/>
            </a:pPr>
            <a:endParaRPr lang="pt-BR"/>
          </a:p>
          <a:p>
            <a:pPr marL="285750" indent="-285750">
              <a:buFontTx/>
              <a:buChar char="-"/>
            </a:pPr>
            <a:r>
              <a:rPr lang="pt-BR"/>
              <a:t>Reduzir uso de </a:t>
            </a:r>
            <a:r>
              <a:rPr lang="pt-BR" err="1"/>
              <a:t>Datadog</a:t>
            </a:r>
            <a:r>
              <a:rPr lang="pt-BR"/>
              <a:t> em serviços PRE-PROD – Adriano Dias (</a:t>
            </a:r>
            <a:r>
              <a:rPr lang="pt-BR" sz="1400"/>
              <a:t>29/</a:t>
            </a:r>
            <a:r>
              <a:rPr lang="pt-BR" sz="1400" err="1"/>
              <a:t>mai</a:t>
            </a:r>
            <a:r>
              <a:rPr lang="pt-BR"/>
              <a:t>)</a:t>
            </a:r>
          </a:p>
          <a:p>
            <a:pPr marL="742950" lvl="1" indent="-285750">
              <a:buFontTx/>
              <a:buChar char="-"/>
            </a:pPr>
            <a:r>
              <a:rPr lang="pt-BR" sz="1400"/>
              <a:t>Potencial redução: U$ ~2.8k </a:t>
            </a:r>
            <a:r>
              <a:rPr lang="pt-BR" sz="1200"/>
              <a:t>(15% do valor atual)</a:t>
            </a:r>
          </a:p>
          <a:p>
            <a:pPr lvl="1"/>
            <a:endParaRPr lang="pt-BR" sz="1400"/>
          </a:p>
          <a:p>
            <a:r>
              <a:rPr lang="pt-BR" sz="1400"/>
              <a:t>Total do potencial de redução: U$ ~31k</a:t>
            </a:r>
          </a:p>
        </p:txBody>
      </p:sp>
    </p:spTree>
    <p:extLst>
      <p:ext uri="{BB962C8B-B14F-4D97-AF65-F5344CB8AC3E}">
        <p14:creationId xmlns:p14="http://schemas.microsoft.com/office/powerpoint/2010/main" val="2337989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2922-CC73-60D6-05D0-CD52F0F9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54596300"/>
      </p:ext>
    </p:extLst>
  </p:cSld>
  <p:clrMapOvr>
    <a:masterClrMapping/>
  </p:clrMapOvr>
</p:sld>
</file>

<file path=ppt/theme/theme1.xml><?xml version="1.0" encoding="utf-8"?>
<a:theme xmlns:a="http://schemas.openxmlformats.org/drawingml/2006/main" name="TR Theme 2024 Parent">
  <a:themeElements>
    <a:clrScheme name="TR Theme 2.0">
      <a:dk1>
        <a:srgbClr val="000000"/>
      </a:dk1>
      <a:lt1>
        <a:srgbClr val="FFFFFF"/>
      </a:lt1>
      <a:dk2>
        <a:srgbClr val="D64000"/>
      </a:dk2>
      <a:lt2>
        <a:srgbClr val="F8EADD"/>
      </a:lt2>
      <a:accent1>
        <a:srgbClr val="D64000"/>
      </a:accent1>
      <a:accent2>
        <a:srgbClr val="123121"/>
      </a:accent2>
      <a:accent3>
        <a:srgbClr val="D4792A"/>
      </a:accent3>
      <a:accent4>
        <a:srgbClr val="4DB299"/>
      </a:accent4>
      <a:accent5>
        <a:srgbClr val="8FCB64"/>
      </a:accent5>
      <a:accent6>
        <a:srgbClr val="212322"/>
      </a:accent6>
      <a:hlink>
        <a:srgbClr val="1A7EE5"/>
      </a:hlink>
      <a:folHlink>
        <a:srgbClr val="4DB299"/>
      </a:folHlink>
    </a:clrScheme>
    <a:fontScheme name="Thomson Reuters Clario">
      <a:majorFont>
        <a:latin typeface="Clario Medium"/>
        <a:ea typeface=""/>
        <a:cs typeface=""/>
      </a:majorFont>
      <a:minorFont>
        <a:latin typeface="Clari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TR Dark Gold">
      <a:srgbClr val="E9B045"/>
    </a:custClr>
    <a:custClr name="TR Dark Amber">
      <a:srgbClr val="D4792A"/>
    </a:custClr>
    <a:custClr name="TR Dark Sky">
      <a:srgbClr val="1A7EE5"/>
    </a:custClr>
    <a:custClr name="TR Dark Teal">
      <a:srgbClr val="4DB299"/>
    </a:custClr>
    <a:custClr name="TR Dark Lime">
      <a:srgbClr val="8FCB64"/>
    </a:custClr>
    <a:custClr name="TR Light Gold">
      <a:srgbClr val="FCF2DA"/>
    </a:custClr>
    <a:custClr name="TR Light Amber">
      <a:srgbClr val="F8EADD"/>
    </a:custClr>
    <a:custClr name="TR Light Sky">
      <a:srgbClr val="E3F1FD"/>
    </a:custClr>
    <a:custClr name="TR Light Teal">
      <a:srgbClr val="E3F3EE"/>
    </a:custClr>
    <a:custClr name="TR Light Lime">
      <a:srgbClr val="E1F4CD"/>
    </a:custClr>
    <a:custClr name="TR Orange">
      <a:srgbClr val="D64000"/>
    </a:custClr>
    <a:custClr name="TR Green">
      <a:srgbClr val="123021"/>
    </a:custClr>
    <a:custClr name="TR White">
      <a:srgbClr val="FFFFFF"/>
    </a:custClr>
    <a:custClr name="TR Graphite">
      <a:srgbClr val="212223"/>
    </a:custClr>
    <a:custClr name="TR Black">
      <a:srgbClr val="000000"/>
    </a:custClr>
    <a:custClr name="TR Grey 1">
      <a:srgbClr val="F9F7F5"/>
    </a:custClr>
    <a:custClr name="TR Grey 2">
      <a:srgbClr val="E5E5E5"/>
    </a:custClr>
    <a:custClr name="TR Grey 3">
      <a:srgbClr val="9F9F9F"/>
    </a:custClr>
    <a:custClr name="TR Grey 4">
      <a:srgbClr val="7A7A7A"/>
    </a:custClr>
  </a:custClrLst>
  <a:extLst>
    <a:ext uri="{05A4C25C-085E-4340-85A3-A5531E510DB2}">
      <thm15:themeFamily xmlns:thm15="http://schemas.microsoft.com/office/thememl/2012/main" name="TR_Light_Template" id="{06A30D43-E7CD-0A4C-A04B-D5D118CA50E3}" vid="{B95C2F74-C600-4446-A30F-EFB948D3D6E3}"/>
    </a:ext>
  </a:extLst>
</a:theme>
</file>

<file path=ppt/theme/theme2.xml><?xml version="1.0" encoding="utf-8"?>
<a:theme xmlns:a="http://schemas.openxmlformats.org/drawingml/2006/main" name="1_TR Theme 2024 Parent">
  <a:themeElements>
    <a:clrScheme name="TR Theme 2.0">
      <a:dk1>
        <a:srgbClr val="000000"/>
      </a:dk1>
      <a:lt1>
        <a:srgbClr val="FFFFFF"/>
      </a:lt1>
      <a:dk2>
        <a:srgbClr val="D64000"/>
      </a:dk2>
      <a:lt2>
        <a:srgbClr val="F8EADD"/>
      </a:lt2>
      <a:accent1>
        <a:srgbClr val="D64000"/>
      </a:accent1>
      <a:accent2>
        <a:srgbClr val="123121"/>
      </a:accent2>
      <a:accent3>
        <a:srgbClr val="D4792A"/>
      </a:accent3>
      <a:accent4>
        <a:srgbClr val="4DB299"/>
      </a:accent4>
      <a:accent5>
        <a:srgbClr val="8FCB64"/>
      </a:accent5>
      <a:accent6>
        <a:srgbClr val="212322"/>
      </a:accent6>
      <a:hlink>
        <a:srgbClr val="1A7EE5"/>
      </a:hlink>
      <a:folHlink>
        <a:srgbClr val="4DB299"/>
      </a:folHlink>
    </a:clrScheme>
    <a:fontScheme name="Thomson Reuters Clario">
      <a:majorFont>
        <a:latin typeface="Clario Medium"/>
        <a:ea typeface=""/>
        <a:cs typeface=""/>
      </a:majorFont>
      <a:minorFont>
        <a:latin typeface="Clari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TR Dark Gold">
      <a:srgbClr val="E9B045"/>
    </a:custClr>
    <a:custClr name="TR Dark Amber">
      <a:srgbClr val="D4792A"/>
    </a:custClr>
    <a:custClr name="TR Dark Sky">
      <a:srgbClr val="1A7EE5"/>
    </a:custClr>
    <a:custClr name="TR Dark Teal">
      <a:srgbClr val="4DB299"/>
    </a:custClr>
    <a:custClr name="TR Dark Lime">
      <a:srgbClr val="8FCB64"/>
    </a:custClr>
    <a:custClr name="TR Light Gold">
      <a:srgbClr val="FCF2DA"/>
    </a:custClr>
    <a:custClr name="TR Light Amber">
      <a:srgbClr val="F8EADD"/>
    </a:custClr>
    <a:custClr name="TR Light Sky">
      <a:srgbClr val="E3F1FD"/>
    </a:custClr>
    <a:custClr name="TR Light Teal">
      <a:srgbClr val="E3F3EE"/>
    </a:custClr>
    <a:custClr name="TR Light Lime">
      <a:srgbClr val="E1F4CD"/>
    </a:custClr>
    <a:custClr name="TR Orange">
      <a:srgbClr val="D64000"/>
    </a:custClr>
    <a:custClr name="TR Green">
      <a:srgbClr val="123021"/>
    </a:custClr>
    <a:custClr name="TR White">
      <a:srgbClr val="FFFFFF"/>
    </a:custClr>
    <a:custClr name="TR Graphite">
      <a:srgbClr val="212223"/>
    </a:custClr>
    <a:custClr name="TR Black">
      <a:srgbClr val="000000"/>
    </a:custClr>
    <a:custClr name="TR Grey 1">
      <a:srgbClr val="F9F7F5"/>
    </a:custClr>
    <a:custClr name="TR Grey 2">
      <a:srgbClr val="E5E5E5"/>
    </a:custClr>
    <a:custClr name="TR Grey 3">
      <a:srgbClr val="9F9F9F"/>
    </a:custClr>
    <a:custClr name="TR Grey 4">
      <a:srgbClr val="7A7A7A"/>
    </a:custClr>
  </a:custClrLst>
  <a:extLst>
    <a:ext uri="{05A4C25C-085E-4340-85A3-A5531E510DB2}">
      <thm15:themeFamily xmlns:thm15="http://schemas.microsoft.com/office/thememl/2012/main" name="TR_Light_Template" id="{06A30D43-E7CD-0A4C-A04B-D5D118CA50E3}" vid="{BAEE68F1-4FDA-F941-B613-7A31E497F04D}"/>
    </a:ext>
  </a:extLst>
</a:theme>
</file>

<file path=ppt/theme/theme3.xml><?xml version="1.0" encoding="utf-8"?>
<a:theme xmlns:a="http://schemas.openxmlformats.org/drawingml/2006/main" name="Content">
  <a:themeElements>
    <a:clrScheme name="Custom 1">
      <a:dk1>
        <a:srgbClr val="404040"/>
      </a:dk1>
      <a:lt1>
        <a:srgbClr val="FFFFFF"/>
      </a:lt1>
      <a:dk2>
        <a:srgbClr val="FA6400"/>
      </a:dk2>
      <a:lt2>
        <a:srgbClr val="D0D0D0"/>
      </a:lt2>
      <a:accent1>
        <a:srgbClr val="FA6400"/>
      </a:accent1>
      <a:accent2>
        <a:srgbClr val="3F403F"/>
      </a:accent2>
      <a:accent3>
        <a:srgbClr val="DC4300"/>
      </a:accent3>
      <a:accent4>
        <a:srgbClr val="AEAFAE"/>
      </a:accent4>
      <a:accent5>
        <a:srgbClr val="FFA000"/>
      </a:accent5>
      <a:accent6>
        <a:srgbClr val="666666"/>
      </a:accent6>
      <a:hlink>
        <a:srgbClr val="005DA2"/>
      </a:hlink>
      <a:folHlink>
        <a:srgbClr val="621F9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 Full Template" id="{5F52708F-7E6A-A748-B4F7-2AB8BD6B8030}" vid="{16AEE4BF-A1BA-034E-AC1B-2F7AC4F1B4D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lari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lari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B08B12A83FCB49A2F403D13F0F9B29" ma:contentTypeVersion="3" ma:contentTypeDescription="Create a new document." ma:contentTypeScope="" ma:versionID="f42dbd4b17ca43e804e1cf3e3f953d23">
  <xsd:schema xmlns:xsd="http://www.w3.org/2001/XMLSchema" xmlns:xs="http://www.w3.org/2001/XMLSchema" xmlns:p="http://schemas.microsoft.com/office/2006/metadata/properties" xmlns:ns2="1689e133-0371-471d-9941-1a5419ea77ca" targetNamespace="http://schemas.microsoft.com/office/2006/metadata/properties" ma:root="true" ma:fieldsID="fbac030a59ffa4fd94c6f86fbb5bfac4" ns2:_="">
    <xsd:import namespace="1689e133-0371-471d-9941-1a5419ea77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9e133-0371-471d-9941-1a5419ea77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C5DCF0-6D06-4308-8F02-C1B08724EE5A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1689e133-0371-471d-9941-1a5419ea77ca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4B6999-F5DC-46C7-9E35-E18385071126}">
  <ds:schemaRefs>
    <ds:schemaRef ds:uri="1689e133-0371-471d-9941-1a5419ea77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ACA8E8-E007-4AD4-940A-74AB962629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TR_Light_Template</Template>
  <TotalTime>1</TotalTime>
  <Words>1394</Words>
  <Application>Microsoft Office PowerPoint</Application>
  <PresentationFormat>Widescreen</PresentationFormat>
  <Paragraphs>390</Paragraphs>
  <Slides>25</Slides>
  <Notes>22</Notes>
  <HiddenSlides>4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25</vt:i4>
      </vt:variant>
    </vt:vector>
  </HeadingPairs>
  <TitlesOfParts>
    <vt:vector size="39" baseType="lpstr">
      <vt:lpstr>Calibri</vt:lpstr>
      <vt:lpstr>Aptos</vt:lpstr>
      <vt:lpstr>Clario Thin</vt:lpstr>
      <vt:lpstr>Arial</vt:lpstr>
      <vt:lpstr>Clario Light</vt:lpstr>
      <vt:lpstr>Arial Black</vt:lpstr>
      <vt:lpstr>Clario</vt:lpstr>
      <vt:lpstr>System Font Regular</vt:lpstr>
      <vt:lpstr>Clario Medium</vt:lpstr>
      <vt:lpstr>Clario Air</vt:lpstr>
      <vt:lpstr>Clario Black</vt:lpstr>
      <vt:lpstr>TR Theme 2024 Parent</vt:lpstr>
      <vt:lpstr>1_TR Theme 2024 Parent</vt:lpstr>
      <vt:lpstr>Content</vt:lpstr>
      <vt:lpstr>Apresentação do PowerPoint</vt:lpstr>
      <vt:lpstr>Apresentação do PowerPoint</vt:lpstr>
      <vt:lpstr>Recap / Pending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SNYK</vt:lpstr>
      <vt:lpstr>SNYK</vt:lpstr>
      <vt:lpstr>Nível de Serviço</vt:lpstr>
      <vt:lpstr>TechOps – Painel de Indicadores</vt:lpstr>
      <vt:lpstr>TechOps – Painel de Indicadores</vt:lpstr>
      <vt:lpstr>TechOps – Golden Signals</vt:lpstr>
      <vt:lpstr>TechOps – Golden Signals</vt:lpstr>
      <vt:lpstr>Iniciativas de IA</vt:lpstr>
      <vt:lpstr>Etapas da Transformação</vt:lpstr>
      <vt:lpstr>Desafio do momento</vt:lpstr>
      <vt:lpstr>LALUR</vt:lpstr>
      <vt:lpstr>Financeiro</vt:lpstr>
      <vt:lpstr>Apresentação do PowerPoint</vt:lpstr>
      <vt:lpstr>Apresentação do PowerPoint</vt:lpstr>
      <vt:lpstr>Apresentação do PowerPoint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Fernanda (TR Technology)</dc:creator>
  <cp:lastModifiedBy>Dorigao, Adriana</cp:lastModifiedBy>
  <cp:revision>6</cp:revision>
  <dcterms:created xsi:type="dcterms:W3CDTF">2025-06-01T23:14:21Z</dcterms:created>
  <dcterms:modified xsi:type="dcterms:W3CDTF">2026-05-13T17:35:56Z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0x010100C8B08B12A83FCB49A2F403D13F0F9B29</vt:lpwstr>
  </property>
</Properties>
</file>